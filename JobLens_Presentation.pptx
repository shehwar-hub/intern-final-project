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64" r:id="rId3"/>
    <p:sldId id="257" r:id="rId5"/>
    <p:sldId id="265" r:id="rId6"/>
    <p:sldId id="269" r:id="rId7"/>
    <p:sldId id="267" r:id="rId8"/>
    <p:sldId id="260" r:id="rId9"/>
  </p:sldIdLst>
  <p:sldSz cx="12192000" cy="6858000"/>
  <p:notesSz cx="6858000" cy="12192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22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3" name="椭圆 4"/>
          <p:cNvSpPr/>
          <p:nvPr userDrawn="1">
            <p:custDataLst>
              <p:tags r:id="rId3"/>
            </p:custDataLst>
          </p:nvPr>
        </p:nvSpPr>
        <p:spPr>
          <a:xfrm flipH="1">
            <a:off x="12700" y="-18415"/>
            <a:ext cx="3677285" cy="3043555"/>
          </a:xfrm>
          <a:custGeom>
            <a:avLst/>
            <a:gdLst>
              <a:gd name="connsiteX0" fmla="*/ 5791 w 5791"/>
              <a:gd name="connsiteY0" fmla="*/ 4793 h 4793"/>
              <a:gd name="connsiteX1" fmla="*/ 0 w 5791"/>
              <a:gd name="connsiteY1" fmla="*/ 0 h 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91" h="4793">
                <a:moveTo>
                  <a:pt x="5791" y="4793"/>
                </a:moveTo>
                <a:cubicBezTo>
                  <a:pt x="3491" y="4753"/>
                  <a:pt x="411" y="3773"/>
                  <a:pt x="0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lin ang="1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9" hasCustomPrompt="1"/>
            <p:custDataLst>
              <p:tags r:id="rId4"/>
            </p:custDataLst>
          </p:nvPr>
        </p:nvSpPr>
        <p:spPr>
          <a:xfrm>
            <a:off x="982800" y="4124815"/>
            <a:ext cx="5519420" cy="544836"/>
          </a:xfrm>
          <a:prstGeom prst="rect">
            <a:avLst/>
          </a:prstGeom>
          <a:solidFill>
            <a:schemeClr val="tx1">
              <a:alpha val="0"/>
            </a:schemeClr>
          </a:solidFill>
          <a:effectLst/>
        </p:spPr>
        <p:txBody>
          <a:bodyPr wrap="square" lIns="91440" tIns="45720" rIns="91440" bIns="45720" rtlCol="0" anchor="t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sym typeface="Microsoft YaHei" panose="020B0503020204020204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椭圆 2"/>
          <p:cNvSpPr/>
          <p:nvPr userDrawn="1">
            <p:custDataLst>
              <p:tags r:id="rId5"/>
            </p:custDataLst>
          </p:nvPr>
        </p:nvSpPr>
        <p:spPr>
          <a:xfrm flipH="1">
            <a:off x="7527290" y="2088893"/>
            <a:ext cx="4664710" cy="4769107"/>
          </a:xfrm>
          <a:custGeom>
            <a:avLst/>
            <a:gdLst>
              <a:gd name="adj" fmla="val 477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346" h="7510">
                <a:moveTo>
                  <a:pt x="0" y="0"/>
                </a:moveTo>
                <a:lnTo>
                  <a:pt x="2" y="0"/>
                </a:lnTo>
                <a:cubicBezTo>
                  <a:pt x="4067" y="51"/>
                  <a:pt x="7346" y="3363"/>
                  <a:pt x="7346" y="7439"/>
                </a:cubicBezTo>
                <a:lnTo>
                  <a:pt x="7346" y="7510"/>
                </a:lnTo>
                <a:lnTo>
                  <a:pt x="6635" y="7510"/>
                </a:lnTo>
                <a:lnTo>
                  <a:pt x="6635" y="7439"/>
                </a:lnTo>
                <a:cubicBezTo>
                  <a:pt x="6635" y="3781"/>
                  <a:pt x="3716" y="805"/>
                  <a:pt x="80" y="713"/>
                </a:cubicBezTo>
                <a:lnTo>
                  <a:pt x="0" y="7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50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17" name="椭圆 12"/>
          <p:cNvSpPr/>
          <p:nvPr userDrawn="1">
            <p:custDataLst>
              <p:tags r:id="rId6"/>
            </p:custDataLst>
          </p:nvPr>
        </p:nvSpPr>
        <p:spPr>
          <a:xfrm>
            <a:off x="9285605" y="878840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8" name="弧 9"/>
          <p:cNvSpPr/>
          <p:nvPr userDrawn="1">
            <p:custDataLst>
              <p:tags r:id="rId7"/>
            </p:custDataLst>
          </p:nvPr>
        </p:nvSpPr>
        <p:spPr>
          <a:xfrm rot="300000" flipH="1">
            <a:off x="5975985" y="915035"/>
            <a:ext cx="5842000" cy="5842000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1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9" name="弧 10"/>
          <p:cNvSpPr/>
          <p:nvPr userDrawn="1">
            <p:custDataLst>
              <p:tags r:id="rId8"/>
            </p:custDataLst>
          </p:nvPr>
        </p:nvSpPr>
        <p:spPr>
          <a:xfrm rot="21060000" flipH="1">
            <a:off x="7099300" y="2038350"/>
            <a:ext cx="3595370" cy="3595370"/>
          </a:xfrm>
          <a:prstGeom prst="arc">
            <a:avLst>
              <a:gd name="adj1" fmla="val 3916977"/>
              <a:gd name="adj2" fmla="val 18579731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3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20" name="bRQB5ljLEGlw4nI椭圆 15"/>
          <p:cNvSpPr/>
          <p:nvPr userDrawn="1">
            <p:custDataLst>
              <p:tags r:id="rId9"/>
            </p:custDataLst>
          </p:nvPr>
        </p:nvSpPr>
        <p:spPr>
          <a:xfrm flipH="1">
            <a:off x="8118157" y="3057208"/>
            <a:ext cx="1557655" cy="15576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99000">
                <a:schemeClr val="bg1">
                  <a:lumMod val="95000"/>
                </a:schemeClr>
              </a:gs>
            </a:gsLst>
            <a:lin ang="2700000" scaled="1"/>
            <a:tileRect/>
          </a:gradFill>
          <a:ln w="3175">
            <a:solidFill>
              <a:schemeClr val="accent1">
                <a:alpha val="40000"/>
              </a:schemeClr>
            </a:solidFill>
          </a:ln>
          <a:effectLst>
            <a:outerShdw blurRad="152400" dist="1524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21" name="椭圆 11"/>
          <p:cNvSpPr/>
          <p:nvPr userDrawn="1">
            <p:custDataLst>
              <p:tags r:id="rId10"/>
            </p:custDataLst>
          </p:nvPr>
        </p:nvSpPr>
        <p:spPr>
          <a:xfrm>
            <a:off x="7503160" y="2549525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957600" y="566964"/>
            <a:ext cx="6545560" cy="3411788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all" spc="0" normalizeH="0" baseline="0" noProof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101600" dir="5400000" algn="ctr" rotWithShape="0">
                    <a:schemeClr val="accent1">
                      <a:alpha val="12000"/>
                    </a:schemeClr>
                  </a:outerShdw>
                </a:effectLst>
                <a:uLnTx/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图形 3" descr="3b343532353530353bc8cfd6a4c9f3bacb"/>
          <p:cNvSpPr/>
          <p:nvPr userDrawn="1">
            <p:custDataLst>
              <p:tags r:id="rId15"/>
            </p:custDataLst>
          </p:nvPr>
        </p:nvSpPr>
        <p:spPr>
          <a:xfrm>
            <a:off x="8575213" y="3476035"/>
            <a:ext cx="643543" cy="720002"/>
          </a:xfrm>
          <a:custGeom>
            <a:avLst/>
            <a:gdLst>
              <a:gd name="connsiteX0" fmla="*/ 465883 w 643543"/>
              <a:gd name="connsiteY0" fmla="*/ 69728 h 720002"/>
              <a:gd name="connsiteX1" fmla="*/ 614430 w 643543"/>
              <a:gd name="connsiteY1" fmla="*/ 98492 h 720002"/>
              <a:gd name="connsiteX2" fmla="*/ 643543 w 643543"/>
              <a:gd name="connsiteY2" fmla="*/ 130709 h 720002"/>
              <a:gd name="connsiteX3" fmla="*/ 643543 w 643543"/>
              <a:gd name="connsiteY3" fmla="*/ 404866 h 720002"/>
              <a:gd name="connsiteX4" fmla="*/ 321385 w 643543"/>
              <a:gd name="connsiteY4" fmla="*/ 720001 h 720002"/>
              <a:gd name="connsiteX5" fmla="*/ 0 w 643543"/>
              <a:gd name="connsiteY5" fmla="*/ 404866 h 720002"/>
              <a:gd name="connsiteX6" fmla="*/ 0 w 643543"/>
              <a:gd name="connsiteY6" fmla="*/ 128793 h 720002"/>
              <a:gd name="connsiteX7" fmla="*/ 27542 w 643543"/>
              <a:gd name="connsiteY7" fmla="*/ 96701 h 720002"/>
              <a:gd name="connsiteX8" fmla="*/ 177619 w 643543"/>
              <a:gd name="connsiteY8" fmla="*/ 69728 h 720002"/>
              <a:gd name="connsiteX9" fmla="*/ 305840 w 643543"/>
              <a:gd name="connsiteY9" fmla="*/ 4704 h 720002"/>
              <a:gd name="connsiteX10" fmla="*/ 337707 w 643543"/>
              <a:gd name="connsiteY10" fmla="*/ 4701 h 720002"/>
              <a:gd name="connsiteX11" fmla="*/ 465883 w 643543"/>
              <a:gd name="connsiteY11" fmla="*/ 69728 h 720002"/>
              <a:gd name="connsiteX12" fmla="*/ 298562 w 643543"/>
              <a:gd name="connsiteY12" fmla="*/ 390266 h 720002"/>
              <a:gd name="connsiteX13" fmla="*/ 233556 w 643543"/>
              <a:gd name="connsiteY13" fmla="*/ 321839 h 720002"/>
              <a:gd name="connsiteX14" fmla="*/ 190216 w 643543"/>
              <a:gd name="connsiteY14" fmla="*/ 321839 h 720002"/>
              <a:gd name="connsiteX15" fmla="*/ 190216 w 643543"/>
              <a:gd name="connsiteY15" fmla="*/ 367459 h 720002"/>
              <a:gd name="connsiteX16" fmla="*/ 276892 w 643543"/>
              <a:gd name="connsiteY16" fmla="*/ 458697 h 720002"/>
              <a:gd name="connsiteX17" fmla="*/ 320232 w 643543"/>
              <a:gd name="connsiteY17" fmla="*/ 458697 h 720002"/>
              <a:gd name="connsiteX18" fmla="*/ 471916 w 643543"/>
              <a:gd name="connsiteY18" fmla="*/ 299029 h 720002"/>
              <a:gd name="connsiteX19" fmla="*/ 471916 w 643543"/>
              <a:gd name="connsiteY19" fmla="*/ 253408 h 720002"/>
              <a:gd name="connsiteX20" fmla="*/ 428577 w 643543"/>
              <a:gd name="connsiteY20" fmla="*/ 253408 h 720002"/>
              <a:gd name="connsiteX21" fmla="*/ 298562 w 643543"/>
              <a:gd name="connsiteY21" fmla="*/ 390266 h 72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3543" h="720002">
                <a:moveTo>
                  <a:pt x="465883" y="69728"/>
                </a:moveTo>
                <a:cubicBezTo>
                  <a:pt x="507928" y="85903"/>
                  <a:pt x="557442" y="95491"/>
                  <a:pt x="614430" y="98492"/>
                </a:cubicBezTo>
                <a:cubicBezTo>
                  <a:pt x="630737" y="99350"/>
                  <a:pt x="643543" y="113520"/>
                  <a:pt x="643543" y="130709"/>
                </a:cubicBezTo>
                <a:lnTo>
                  <a:pt x="643543" y="404866"/>
                </a:lnTo>
                <a:cubicBezTo>
                  <a:pt x="643156" y="558055"/>
                  <a:pt x="433920" y="720001"/>
                  <a:pt x="321385" y="720001"/>
                </a:cubicBezTo>
                <a:cubicBezTo>
                  <a:pt x="208852" y="720001"/>
                  <a:pt x="0" y="558055"/>
                  <a:pt x="0" y="404866"/>
                </a:cubicBezTo>
                <a:lnTo>
                  <a:pt x="0" y="128793"/>
                </a:lnTo>
                <a:cubicBezTo>
                  <a:pt x="0" y="112242"/>
                  <a:pt x="11899" y="98377"/>
                  <a:pt x="27542" y="96701"/>
                </a:cubicBezTo>
                <a:cubicBezTo>
                  <a:pt x="99727" y="88967"/>
                  <a:pt x="149753" y="79976"/>
                  <a:pt x="177619" y="69728"/>
                </a:cubicBezTo>
                <a:cubicBezTo>
                  <a:pt x="222172" y="52608"/>
                  <a:pt x="264914" y="30934"/>
                  <a:pt x="305840" y="4704"/>
                </a:cubicBezTo>
                <a:cubicBezTo>
                  <a:pt x="315627" y="-1569"/>
                  <a:pt x="327920" y="-1570"/>
                  <a:pt x="337707" y="4701"/>
                </a:cubicBezTo>
                <a:cubicBezTo>
                  <a:pt x="378652" y="30932"/>
                  <a:pt x="421379" y="52608"/>
                  <a:pt x="465883" y="69728"/>
                </a:cubicBezTo>
                <a:moveTo>
                  <a:pt x="298562" y="390266"/>
                </a:moveTo>
                <a:lnTo>
                  <a:pt x="233556" y="321839"/>
                </a:lnTo>
                <a:cubicBezTo>
                  <a:pt x="221586" y="309242"/>
                  <a:pt x="202184" y="309242"/>
                  <a:pt x="190216" y="321839"/>
                </a:cubicBezTo>
                <a:cubicBezTo>
                  <a:pt x="178249" y="334436"/>
                  <a:pt x="178249" y="354859"/>
                  <a:pt x="190216" y="367459"/>
                </a:cubicBezTo>
                <a:lnTo>
                  <a:pt x="276892" y="458697"/>
                </a:lnTo>
                <a:cubicBezTo>
                  <a:pt x="288859" y="471293"/>
                  <a:pt x="308265" y="471293"/>
                  <a:pt x="320232" y="458697"/>
                </a:cubicBezTo>
                <a:lnTo>
                  <a:pt x="471916" y="299029"/>
                </a:lnTo>
                <a:cubicBezTo>
                  <a:pt x="483883" y="286432"/>
                  <a:pt x="483883" y="266009"/>
                  <a:pt x="471916" y="253408"/>
                </a:cubicBezTo>
                <a:cubicBezTo>
                  <a:pt x="459949" y="240812"/>
                  <a:pt x="440544" y="240812"/>
                  <a:pt x="428577" y="253408"/>
                </a:cubicBezTo>
                <a:lnTo>
                  <a:pt x="298562" y="390266"/>
                </a:lnTo>
              </a:path>
            </a:pathLst>
          </a:custGeom>
          <a:solidFill>
            <a:schemeClr val="accent1"/>
          </a:solidFill>
          <a:ln w="37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062990" y="4813097"/>
            <a:ext cx="2975659" cy="690015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1186815" y="3015615"/>
            <a:ext cx="3695700" cy="646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 algn="ctr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椭圆 6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rot="3180000">
            <a:off x="2370455" y="2711450"/>
            <a:ext cx="1296035" cy="1296035"/>
          </a:xfrm>
          <a:prstGeom prst="ellipse">
            <a:avLst/>
          </a:prstGeom>
          <a:noFill/>
          <a:ln>
            <a:solidFill>
              <a:schemeClr val="accent1">
                <a:lumMod val="75000"/>
                <a:alpha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弧 9"/>
          <p:cNvSpPr/>
          <p:nvPr>
            <p:custDataLst>
              <p:tags r:id="rId5"/>
            </p:custDataLst>
          </p:nvPr>
        </p:nvSpPr>
        <p:spPr>
          <a:xfrm rot="2040000" flipH="1">
            <a:off x="733425" y="1073785"/>
            <a:ext cx="4570095" cy="4570095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20000"/>
                  </a:srgbClr>
                </a:gs>
                <a:gs pos="80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7" name="椭圆 12"/>
          <p:cNvSpPr/>
          <p:nvPr>
            <p:custDataLst>
              <p:tags r:id="rId6"/>
            </p:custDataLst>
          </p:nvPr>
        </p:nvSpPr>
        <p:spPr>
          <a:xfrm rot="1740000">
            <a:off x="4400550" y="1534160"/>
            <a:ext cx="116205" cy="11620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36" name="椭圆 2"/>
          <p:cNvSpPr/>
          <p:nvPr>
            <p:custDataLst>
              <p:tags r:id="rId7"/>
            </p:custDataLst>
          </p:nvPr>
        </p:nvSpPr>
        <p:spPr>
          <a:xfrm rot="18540000" flipH="1">
            <a:off x="1268730" y="1609090"/>
            <a:ext cx="3500120" cy="3500120"/>
          </a:xfrm>
          <a:prstGeom prst="donut">
            <a:avLst>
              <a:gd name="adj" fmla="val 11124"/>
            </a:avLst>
          </a:prstGeom>
          <a:gradFill>
            <a:gsLst>
              <a:gs pos="0">
                <a:schemeClr val="accent2">
                  <a:alpha val="90000"/>
                </a:schemeClr>
              </a:gs>
              <a:gs pos="100000">
                <a:schemeClr val="accent4">
                  <a:alpha val="30000"/>
                </a:schemeClr>
              </a:gs>
            </a:gsLst>
            <a:lin ang="156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5" hasCustomPrompt="1"/>
            <p:custDataLst>
              <p:tags r:id="rId3"/>
            </p:custDataLst>
          </p:nvPr>
        </p:nvSpPr>
        <p:spPr>
          <a:xfrm>
            <a:off x="1089025" y="2258695"/>
            <a:ext cx="1838325" cy="18618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1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n-lt"/>
              </a:defRPr>
            </a:lvl1pPr>
          </a:lstStyle>
          <a:p>
            <a:pPr lvl="0" algn="r"/>
            <a:r>
              <a:rPr dirty="0">
                <a:sym typeface="+mn-ea"/>
              </a:rPr>
              <a:t>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4" hasCustomPrompt="1"/>
            <p:custDataLst>
              <p:tags r:id="rId4"/>
            </p:custDataLst>
          </p:nvPr>
        </p:nvSpPr>
        <p:spPr>
          <a:xfrm>
            <a:off x="3218815" y="2044700"/>
            <a:ext cx="7991475" cy="2274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50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任意多边形 14"/>
          <p:cNvSpPr/>
          <p:nvPr>
            <p:custDataLst>
              <p:tags r:id="rId5"/>
            </p:custDataLst>
          </p:nvPr>
        </p:nvSpPr>
        <p:spPr>
          <a:xfrm>
            <a:off x="-4445" y="5634587"/>
            <a:ext cx="12195810" cy="1232773"/>
          </a:xfrm>
          <a:custGeom>
            <a:avLst/>
            <a:gdLst>
              <a:gd name="connsiteX0" fmla="*/ 0 w 19206"/>
              <a:gd name="connsiteY0" fmla="*/ 283 h 1941"/>
              <a:gd name="connsiteX1" fmla="*/ 5107 w 19206"/>
              <a:gd name="connsiteY1" fmla="*/ 655 h 1941"/>
              <a:gd name="connsiteX2" fmla="*/ 19206 w 19206"/>
              <a:gd name="connsiteY2" fmla="*/ 1591 h 1941"/>
              <a:gd name="connsiteX3" fmla="*/ 19206 w 19206"/>
              <a:gd name="connsiteY3" fmla="*/ 1941 h 1941"/>
              <a:gd name="connsiteX4" fmla="*/ 7 w 19206"/>
              <a:gd name="connsiteY4" fmla="*/ 1941 h 1941"/>
              <a:gd name="connsiteX5" fmla="*/ 0 w 19206"/>
              <a:gd name="connsiteY5" fmla="*/ 283 h 1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941">
                <a:moveTo>
                  <a:pt x="0" y="283"/>
                </a:moveTo>
                <a:cubicBezTo>
                  <a:pt x="943" y="76"/>
                  <a:pt x="2511" y="-388"/>
                  <a:pt x="5107" y="655"/>
                </a:cubicBezTo>
                <a:cubicBezTo>
                  <a:pt x="7703" y="1697"/>
                  <a:pt x="10626" y="1762"/>
                  <a:pt x="19206" y="1591"/>
                </a:cubicBezTo>
                <a:lnTo>
                  <a:pt x="19206" y="1941"/>
                </a:lnTo>
                <a:lnTo>
                  <a:pt x="7" y="1941"/>
                </a:lnTo>
                <a:lnTo>
                  <a:pt x="0" y="283"/>
                </a:lnTo>
                <a:close/>
              </a:path>
            </a:pathLst>
          </a:custGeom>
          <a:gradFill>
            <a:gsLst>
              <a:gs pos="22000">
                <a:schemeClr val="accent1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Arial" panose="020B0604020202020204" pitchFamily="34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6"/>
            </p:custDataLst>
          </p:nvPr>
        </p:nvSpPr>
        <p:spPr>
          <a:xfrm flipH="1">
            <a:off x="-19685" y="5432425"/>
            <a:ext cx="12192000" cy="1427480"/>
          </a:xfrm>
          <a:custGeom>
            <a:avLst/>
            <a:gdLst>
              <a:gd name="connsiteX0" fmla="*/ 0 w 19200"/>
              <a:gd name="connsiteY0" fmla="*/ 747 h 2557"/>
              <a:gd name="connsiteX1" fmla="*/ 3975 w 19200"/>
              <a:gd name="connsiteY1" fmla="*/ 106 h 2557"/>
              <a:gd name="connsiteX2" fmla="*/ 19200 w 19200"/>
              <a:gd name="connsiteY2" fmla="*/ 2160 h 2557"/>
              <a:gd name="connsiteX3" fmla="*/ 19200 w 19200"/>
              <a:gd name="connsiteY3" fmla="*/ 2558 h 2557"/>
              <a:gd name="connsiteX4" fmla="*/ 1 w 19200"/>
              <a:gd name="connsiteY4" fmla="*/ 2558 h 2557"/>
              <a:gd name="connsiteX5" fmla="*/ 0 w 19200"/>
              <a:gd name="connsiteY5" fmla="*/ 747 h 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0" h="2558">
                <a:moveTo>
                  <a:pt x="0" y="747"/>
                </a:moveTo>
                <a:cubicBezTo>
                  <a:pt x="203" y="607"/>
                  <a:pt x="1793" y="-305"/>
                  <a:pt x="3975" y="106"/>
                </a:cubicBezTo>
                <a:cubicBezTo>
                  <a:pt x="6157" y="517"/>
                  <a:pt x="7452" y="2105"/>
                  <a:pt x="19200" y="2160"/>
                </a:cubicBezTo>
                <a:lnTo>
                  <a:pt x="19200" y="2558"/>
                </a:lnTo>
                <a:lnTo>
                  <a:pt x="1" y="2558"/>
                </a:lnTo>
                <a:lnTo>
                  <a:pt x="0" y="747"/>
                </a:lnTo>
                <a:close/>
              </a:path>
            </a:pathLst>
          </a:custGeom>
          <a:gradFill>
            <a:gsLst>
              <a:gs pos="32000">
                <a:schemeClr val="accent1">
                  <a:alpha val="20000"/>
                </a:schemeClr>
              </a:gs>
              <a:gs pos="90000">
                <a:schemeClr val="accent3">
                  <a:lumMod val="40000"/>
                  <a:lumOff val="60000"/>
                  <a:alpha val="64000"/>
                </a:scheme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Arial" panose="020B0604020202020204" pitchFamily="34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7"/>
            </p:custDataLst>
          </p:nvPr>
        </p:nvSpPr>
        <p:spPr>
          <a:xfrm flipH="1">
            <a:off x="-23495" y="5995035"/>
            <a:ext cx="12214860" cy="873125"/>
          </a:xfrm>
          <a:custGeom>
            <a:avLst/>
            <a:gdLst>
              <a:gd name="connsiteX0" fmla="*/ 0 w 19206"/>
              <a:gd name="connsiteY0" fmla="*/ 534 h 1465"/>
              <a:gd name="connsiteX1" fmla="*/ 5787 w 19206"/>
              <a:gd name="connsiteY1" fmla="*/ 384 h 1465"/>
              <a:gd name="connsiteX2" fmla="*/ 19206 w 19206"/>
              <a:gd name="connsiteY2" fmla="*/ 553 h 1465"/>
              <a:gd name="connsiteX3" fmla="*/ 19206 w 19206"/>
              <a:gd name="connsiteY3" fmla="*/ 1465 h 1465"/>
              <a:gd name="connsiteX4" fmla="*/ 7 w 19206"/>
              <a:gd name="connsiteY4" fmla="*/ 1465 h 1465"/>
              <a:gd name="connsiteX5" fmla="*/ 0 w 19206"/>
              <a:gd name="connsiteY5" fmla="*/ 534 h 1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465">
                <a:moveTo>
                  <a:pt x="0" y="534"/>
                </a:moveTo>
                <a:cubicBezTo>
                  <a:pt x="1073" y="-26"/>
                  <a:pt x="3196" y="-252"/>
                  <a:pt x="5787" y="384"/>
                </a:cubicBezTo>
                <a:cubicBezTo>
                  <a:pt x="8378" y="1020"/>
                  <a:pt x="15553" y="1551"/>
                  <a:pt x="19206" y="553"/>
                </a:cubicBezTo>
                <a:lnTo>
                  <a:pt x="19206" y="1465"/>
                </a:lnTo>
                <a:lnTo>
                  <a:pt x="7" y="1465"/>
                </a:lnTo>
                <a:lnTo>
                  <a:pt x="0" y="53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60000"/>
                </a:schemeClr>
              </a:gs>
              <a:gs pos="78000">
                <a:schemeClr val="accent3">
                  <a:lumMod val="20000"/>
                  <a:lumOff val="80000"/>
                  <a:alpha val="25000"/>
                </a:schemeClr>
              </a:gs>
            </a:gsLst>
            <a:lin ang="4200000" scaled="0"/>
          </a:gradFill>
          <a:ln>
            <a:noFill/>
          </a:ln>
          <a:effectLst>
            <a:outerShdw blurRad="177800" dist="508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dk1"/>
                </a:solidFill>
                <a:cs typeface="Arial" panose="020B0604020202020204" pitchFamily="34" charset="0"/>
              </a:rPr>
              <a:t> </a:t>
            </a:r>
            <a:endParaRPr lang="en-US">
              <a:solidFill>
                <a:schemeClr val="dk1"/>
              </a:solidFill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5" hasCustomPrompt="1"/>
            <p:custDataLst>
              <p:tags r:id="rId3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4" hasCustomPrompt="1"/>
            <p:custDataLst>
              <p:tags r:id="rId4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7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5" name="正文"/>
          <p:cNvSpPr txBox="1">
            <a:spLocks noGrp="1"/>
          </p:cNvSpPr>
          <p:nvPr>
            <p:ph idx="7" hasCustomPrompt="1"/>
            <p:custDataLst>
              <p:tags r:id="rId3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6" hasCustomPrompt="1"/>
            <p:custDataLst>
              <p:tags r:id="rId4"/>
            </p:custDataLst>
          </p:nvPr>
        </p:nvSpPr>
        <p:spPr>
          <a:xfrm>
            <a:off x="62352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5" hasCustomPrompt="1"/>
            <p:custDataLst>
              <p:tags r:id="rId5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4" hasCustomPrompt="1"/>
            <p:custDataLst>
              <p:tags r:id="rId6"/>
            </p:custDataLst>
          </p:nvPr>
        </p:nvSpPr>
        <p:spPr>
          <a:xfrm>
            <a:off x="6084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9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3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3" hasCustomPrompt="1"/>
            <p:custDataLst>
              <p:tags r:id="rId3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4" hasCustomPrompt="1"/>
            <p:custDataLst>
              <p:tags r:id="rId3"/>
            </p:custDataLst>
          </p:nvPr>
        </p:nvSpPr>
        <p:spPr>
          <a:xfrm>
            <a:off x="695960" y="1301750"/>
            <a:ext cx="10799088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1">
                  <a:alpha val="10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cs typeface="Arial" panose="020B0604020202020204" pitchFamily="34" charset="0"/>
              <a:sym typeface="+mn-lt"/>
            </a:endParaRPr>
          </a:p>
        </p:txBody>
      </p:sp>
      <p:sp>
        <p:nvSpPr>
          <p:cNvPr id="14" name="椭圆 4"/>
          <p:cNvSpPr/>
          <p:nvPr userDrawn="1">
            <p:custDataLst>
              <p:tags r:id="rId3"/>
            </p:custDataLst>
          </p:nvPr>
        </p:nvSpPr>
        <p:spPr>
          <a:xfrm flipH="1">
            <a:off x="12700" y="-18415"/>
            <a:ext cx="3677285" cy="3043555"/>
          </a:xfrm>
          <a:custGeom>
            <a:avLst/>
            <a:gdLst>
              <a:gd name="connsiteX0" fmla="*/ 5791 w 5791"/>
              <a:gd name="connsiteY0" fmla="*/ 4793 h 4793"/>
              <a:gd name="connsiteX1" fmla="*/ 0 w 5791"/>
              <a:gd name="connsiteY1" fmla="*/ 0 h 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91" h="4793">
                <a:moveTo>
                  <a:pt x="5791" y="4793"/>
                </a:moveTo>
                <a:cubicBezTo>
                  <a:pt x="3491" y="4753"/>
                  <a:pt x="411" y="3773"/>
                  <a:pt x="0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lin ang="1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椭圆 2"/>
          <p:cNvSpPr/>
          <p:nvPr userDrawn="1">
            <p:custDataLst>
              <p:tags r:id="rId4"/>
            </p:custDataLst>
          </p:nvPr>
        </p:nvSpPr>
        <p:spPr>
          <a:xfrm flipH="1">
            <a:off x="7527290" y="2088893"/>
            <a:ext cx="4664710" cy="4769107"/>
          </a:xfrm>
          <a:custGeom>
            <a:avLst/>
            <a:gdLst>
              <a:gd name="adj" fmla="val 477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346" h="7510">
                <a:moveTo>
                  <a:pt x="0" y="0"/>
                </a:moveTo>
                <a:lnTo>
                  <a:pt x="2" y="0"/>
                </a:lnTo>
                <a:cubicBezTo>
                  <a:pt x="4067" y="51"/>
                  <a:pt x="7346" y="3363"/>
                  <a:pt x="7346" y="7439"/>
                </a:cubicBezTo>
                <a:lnTo>
                  <a:pt x="7346" y="7510"/>
                </a:lnTo>
                <a:lnTo>
                  <a:pt x="6635" y="7510"/>
                </a:lnTo>
                <a:lnTo>
                  <a:pt x="6635" y="7439"/>
                </a:lnTo>
                <a:cubicBezTo>
                  <a:pt x="6635" y="3781"/>
                  <a:pt x="3716" y="805"/>
                  <a:pt x="80" y="713"/>
                </a:cubicBezTo>
                <a:lnTo>
                  <a:pt x="0" y="7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50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8" hasCustomPrompt="1"/>
            <p:custDataLst>
              <p:tags r:id="rId5"/>
            </p:custDataLst>
          </p:nvPr>
        </p:nvSpPr>
        <p:spPr>
          <a:xfrm>
            <a:off x="1163955" y="1460361"/>
            <a:ext cx="552005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all" spc="0" normalizeH="0" baseline="0" noProof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101600" dir="5400000" algn="ctr" rotWithShape="0">
                    <a:schemeClr val="accent1">
                      <a:alpha val="12000"/>
                    </a:schemeClr>
                  </a:outerShdw>
                </a:effectLst>
                <a:uLnTx/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10" name="椭圆 12"/>
          <p:cNvSpPr/>
          <p:nvPr userDrawn="1">
            <p:custDataLst>
              <p:tags r:id="rId6"/>
            </p:custDataLst>
          </p:nvPr>
        </p:nvSpPr>
        <p:spPr>
          <a:xfrm>
            <a:off x="9285605" y="878840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1" name="弧 9"/>
          <p:cNvSpPr/>
          <p:nvPr userDrawn="1">
            <p:custDataLst>
              <p:tags r:id="rId7"/>
            </p:custDataLst>
          </p:nvPr>
        </p:nvSpPr>
        <p:spPr>
          <a:xfrm rot="300000" flipH="1">
            <a:off x="5975985" y="915035"/>
            <a:ext cx="5842000" cy="5842000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1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2" name="弧 10"/>
          <p:cNvSpPr/>
          <p:nvPr userDrawn="1">
            <p:custDataLst>
              <p:tags r:id="rId8"/>
            </p:custDataLst>
          </p:nvPr>
        </p:nvSpPr>
        <p:spPr>
          <a:xfrm rot="21060000" flipH="1">
            <a:off x="7099300" y="2038350"/>
            <a:ext cx="3595370" cy="3595370"/>
          </a:xfrm>
          <a:prstGeom prst="arc">
            <a:avLst>
              <a:gd name="adj1" fmla="val 3916977"/>
              <a:gd name="adj2" fmla="val 18579731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3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bRQB5ljLEGlw4nI椭圆 15"/>
          <p:cNvSpPr/>
          <p:nvPr userDrawn="1">
            <p:custDataLst>
              <p:tags r:id="rId9"/>
            </p:custDataLst>
          </p:nvPr>
        </p:nvSpPr>
        <p:spPr>
          <a:xfrm flipH="1">
            <a:off x="8118157" y="3057208"/>
            <a:ext cx="1557655" cy="15576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99000">
                <a:schemeClr val="bg1">
                  <a:lumMod val="95000"/>
                </a:schemeClr>
              </a:gs>
            </a:gsLst>
            <a:lin ang="2700000" scaled="1"/>
            <a:tileRect/>
          </a:gradFill>
          <a:ln w="3175">
            <a:solidFill>
              <a:schemeClr val="accent1">
                <a:alpha val="40000"/>
              </a:schemeClr>
            </a:solidFill>
          </a:ln>
          <a:effectLst>
            <a:outerShdw blurRad="152400" dist="1524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21" name="椭圆 11"/>
          <p:cNvSpPr/>
          <p:nvPr userDrawn="1">
            <p:custDataLst>
              <p:tags r:id="rId10"/>
            </p:custDataLst>
          </p:nvPr>
        </p:nvSpPr>
        <p:spPr>
          <a:xfrm>
            <a:off x="7503160" y="2549525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图形 3" descr="3b343532353530353bc8cfd6a4c9f3bacb"/>
          <p:cNvSpPr/>
          <p:nvPr userDrawn="1">
            <p:custDataLst>
              <p:tags r:id="rId14"/>
            </p:custDataLst>
          </p:nvPr>
        </p:nvSpPr>
        <p:spPr>
          <a:xfrm>
            <a:off x="8575213" y="3476035"/>
            <a:ext cx="643543" cy="720002"/>
          </a:xfrm>
          <a:custGeom>
            <a:avLst/>
            <a:gdLst>
              <a:gd name="connsiteX0" fmla="*/ 465883 w 643543"/>
              <a:gd name="connsiteY0" fmla="*/ 69728 h 720002"/>
              <a:gd name="connsiteX1" fmla="*/ 614430 w 643543"/>
              <a:gd name="connsiteY1" fmla="*/ 98492 h 720002"/>
              <a:gd name="connsiteX2" fmla="*/ 643543 w 643543"/>
              <a:gd name="connsiteY2" fmla="*/ 130709 h 720002"/>
              <a:gd name="connsiteX3" fmla="*/ 643543 w 643543"/>
              <a:gd name="connsiteY3" fmla="*/ 404866 h 720002"/>
              <a:gd name="connsiteX4" fmla="*/ 321385 w 643543"/>
              <a:gd name="connsiteY4" fmla="*/ 720001 h 720002"/>
              <a:gd name="connsiteX5" fmla="*/ 0 w 643543"/>
              <a:gd name="connsiteY5" fmla="*/ 404866 h 720002"/>
              <a:gd name="connsiteX6" fmla="*/ 0 w 643543"/>
              <a:gd name="connsiteY6" fmla="*/ 128793 h 720002"/>
              <a:gd name="connsiteX7" fmla="*/ 27542 w 643543"/>
              <a:gd name="connsiteY7" fmla="*/ 96701 h 720002"/>
              <a:gd name="connsiteX8" fmla="*/ 177619 w 643543"/>
              <a:gd name="connsiteY8" fmla="*/ 69728 h 720002"/>
              <a:gd name="connsiteX9" fmla="*/ 305840 w 643543"/>
              <a:gd name="connsiteY9" fmla="*/ 4704 h 720002"/>
              <a:gd name="connsiteX10" fmla="*/ 337707 w 643543"/>
              <a:gd name="connsiteY10" fmla="*/ 4701 h 720002"/>
              <a:gd name="connsiteX11" fmla="*/ 465883 w 643543"/>
              <a:gd name="connsiteY11" fmla="*/ 69728 h 720002"/>
              <a:gd name="connsiteX12" fmla="*/ 298562 w 643543"/>
              <a:gd name="connsiteY12" fmla="*/ 390266 h 720002"/>
              <a:gd name="connsiteX13" fmla="*/ 233556 w 643543"/>
              <a:gd name="connsiteY13" fmla="*/ 321839 h 720002"/>
              <a:gd name="connsiteX14" fmla="*/ 190216 w 643543"/>
              <a:gd name="connsiteY14" fmla="*/ 321839 h 720002"/>
              <a:gd name="connsiteX15" fmla="*/ 190216 w 643543"/>
              <a:gd name="connsiteY15" fmla="*/ 367459 h 720002"/>
              <a:gd name="connsiteX16" fmla="*/ 276892 w 643543"/>
              <a:gd name="connsiteY16" fmla="*/ 458697 h 720002"/>
              <a:gd name="connsiteX17" fmla="*/ 320232 w 643543"/>
              <a:gd name="connsiteY17" fmla="*/ 458697 h 720002"/>
              <a:gd name="connsiteX18" fmla="*/ 471916 w 643543"/>
              <a:gd name="connsiteY18" fmla="*/ 299029 h 720002"/>
              <a:gd name="connsiteX19" fmla="*/ 471916 w 643543"/>
              <a:gd name="connsiteY19" fmla="*/ 253408 h 720002"/>
              <a:gd name="connsiteX20" fmla="*/ 428577 w 643543"/>
              <a:gd name="connsiteY20" fmla="*/ 253408 h 720002"/>
              <a:gd name="connsiteX21" fmla="*/ 298562 w 643543"/>
              <a:gd name="connsiteY21" fmla="*/ 390266 h 72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3543" h="720002">
                <a:moveTo>
                  <a:pt x="465883" y="69728"/>
                </a:moveTo>
                <a:cubicBezTo>
                  <a:pt x="507928" y="85903"/>
                  <a:pt x="557442" y="95491"/>
                  <a:pt x="614430" y="98492"/>
                </a:cubicBezTo>
                <a:cubicBezTo>
                  <a:pt x="630737" y="99350"/>
                  <a:pt x="643543" y="113520"/>
                  <a:pt x="643543" y="130709"/>
                </a:cubicBezTo>
                <a:lnTo>
                  <a:pt x="643543" y="404866"/>
                </a:lnTo>
                <a:cubicBezTo>
                  <a:pt x="643156" y="558055"/>
                  <a:pt x="433920" y="720001"/>
                  <a:pt x="321385" y="720001"/>
                </a:cubicBezTo>
                <a:cubicBezTo>
                  <a:pt x="208852" y="720001"/>
                  <a:pt x="0" y="558055"/>
                  <a:pt x="0" y="404866"/>
                </a:cubicBezTo>
                <a:lnTo>
                  <a:pt x="0" y="128793"/>
                </a:lnTo>
                <a:cubicBezTo>
                  <a:pt x="0" y="112242"/>
                  <a:pt x="11899" y="98377"/>
                  <a:pt x="27542" y="96701"/>
                </a:cubicBezTo>
                <a:cubicBezTo>
                  <a:pt x="99727" y="88967"/>
                  <a:pt x="149753" y="79976"/>
                  <a:pt x="177619" y="69728"/>
                </a:cubicBezTo>
                <a:cubicBezTo>
                  <a:pt x="222172" y="52608"/>
                  <a:pt x="264914" y="30934"/>
                  <a:pt x="305840" y="4704"/>
                </a:cubicBezTo>
                <a:cubicBezTo>
                  <a:pt x="315627" y="-1569"/>
                  <a:pt x="327920" y="-1570"/>
                  <a:pt x="337707" y="4701"/>
                </a:cubicBezTo>
                <a:cubicBezTo>
                  <a:pt x="378652" y="30932"/>
                  <a:pt x="421379" y="52608"/>
                  <a:pt x="465883" y="69728"/>
                </a:cubicBezTo>
                <a:moveTo>
                  <a:pt x="298562" y="390266"/>
                </a:moveTo>
                <a:lnTo>
                  <a:pt x="233556" y="321839"/>
                </a:lnTo>
                <a:cubicBezTo>
                  <a:pt x="221586" y="309242"/>
                  <a:pt x="202184" y="309242"/>
                  <a:pt x="190216" y="321839"/>
                </a:cubicBezTo>
                <a:cubicBezTo>
                  <a:pt x="178249" y="334436"/>
                  <a:pt x="178249" y="354859"/>
                  <a:pt x="190216" y="367459"/>
                </a:cubicBezTo>
                <a:lnTo>
                  <a:pt x="276892" y="458697"/>
                </a:lnTo>
                <a:cubicBezTo>
                  <a:pt x="288859" y="471293"/>
                  <a:pt x="308265" y="471293"/>
                  <a:pt x="320232" y="458697"/>
                </a:cubicBezTo>
                <a:lnTo>
                  <a:pt x="471916" y="299029"/>
                </a:lnTo>
                <a:cubicBezTo>
                  <a:pt x="483883" y="286432"/>
                  <a:pt x="483883" y="266009"/>
                  <a:pt x="471916" y="253408"/>
                </a:cubicBezTo>
                <a:cubicBezTo>
                  <a:pt x="459949" y="240812"/>
                  <a:pt x="440544" y="240812"/>
                  <a:pt x="428577" y="253408"/>
                </a:cubicBezTo>
                <a:lnTo>
                  <a:pt x="298562" y="390266"/>
                </a:lnTo>
              </a:path>
            </a:pathLst>
          </a:custGeom>
          <a:solidFill>
            <a:schemeClr val="accent1"/>
          </a:solidFill>
          <a:ln w="37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257885" y="3729990"/>
            <a:ext cx="2975659" cy="612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11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smtClean="0">
          <a:ln>
            <a:noFill/>
            <a:prstDash val="sysDot"/>
          </a:ln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4800000" scaled="0"/>
          </a:gra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8.xml"/><Relationship Id="rId23" Type="http://schemas.openxmlformats.org/officeDocument/2006/relationships/tags" Target="../tags/tag141.xml"/><Relationship Id="rId22" Type="http://schemas.openxmlformats.org/officeDocument/2006/relationships/tags" Target="../tags/tag140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tags" Target="../tags/tag120.xml"/><Relationship Id="rId19" Type="http://schemas.openxmlformats.org/officeDocument/2006/relationships/tags" Target="../tags/tag137.xml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178.xml"/><Relationship Id="rId23" Type="http://schemas.openxmlformats.org/officeDocument/2006/relationships/tags" Target="../tags/tag177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tags" Target="../tags/tag156.xml"/><Relationship Id="rId19" Type="http://schemas.openxmlformats.org/officeDocument/2006/relationships/tags" Target="../tags/tag173.xml"/><Relationship Id="rId18" Type="http://schemas.openxmlformats.org/officeDocument/2006/relationships/tags" Target="../tags/tag172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8.xml"/><Relationship Id="rId2" Type="http://schemas.openxmlformats.org/officeDocument/2006/relationships/tags" Target="../tags/tag180.xml"/><Relationship Id="rId19" Type="http://schemas.openxmlformats.org/officeDocument/2006/relationships/tags" Target="../tags/tag197.xml"/><Relationship Id="rId18" Type="http://schemas.openxmlformats.org/officeDocument/2006/relationships/tags" Target="../tags/tag196.xml"/><Relationship Id="rId17" Type="http://schemas.openxmlformats.org/officeDocument/2006/relationships/tags" Target="../tags/tag195.xml"/><Relationship Id="rId16" Type="http://schemas.openxmlformats.org/officeDocument/2006/relationships/tags" Target="../tags/tag194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tags" Target="../tags/tag17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8.xml"/><Relationship Id="rId25" Type="http://schemas.openxmlformats.org/officeDocument/2006/relationships/tags" Target="../tags/tag222.xml"/><Relationship Id="rId24" Type="http://schemas.openxmlformats.org/officeDocument/2006/relationships/tags" Target="../tags/tag221.xml"/><Relationship Id="rId23" Type="http://schemas.openxmlformats.org/officeDocument/2006/relationships/tags" Target="../tags/tag220.xml"/><Relationship Id="rId22" Type="http://schemas.openxmlformats.org/officeDocument/2006/relationships/tags" Target="../tags/tag219.xml"/><Relationship Id="rId21" Type="http://schemas.openxmlformats.org/officeDocument/2006/relationships/tags" Target="../tags/tag218.xml"/><Relationship Id="rId20" Type="http://schemas.openxmlformats.org/officeDocument/2006/relationships/tags" Target="../tags/tag217.xml"/><Relationship Id="rId2" Type="http://schemas.openxmlformats.org/officeDocument/2006/relationships/tags" Target="../tags/tag199.xml"/><Relationship Id="rId19" Type="http://schemas.openxmlformats.org/officeDocument/2006/relationships/tags" Target="../tags/tag216.xml"/><Relationship Id="rId18" Type="http://schemas.openxmlformats.org/officeDocument/2006/relationships/tags" Target="../tags/tag215.xml"/><Relationship Id="rId17" Type="http://schemas.openxmlformats.org/officeDocument/2006/relationships/tags" Target="../tags/tag214.xml"/><Relationship Id="rId16" Type="http://schemas.openxmlformats.org/officeDocument/2006/relationships/tags" Target="../tags/tag213.xml"/><Relationship Id="rId15" Type="http://schemas.openxmlformats.org/officeDocument/2006/relationships/tags" Target="../tags/tag212.xml"/><Relationship Id="rId14" Type="http://schemas.openxmlformats.org/officeDocument/2006/relationships/tags" Target="../tags/tag211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tags" Target="../tags/tag1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1062990" y="6308725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ea typeface="Calibri" panose="020F0502020204030204" pitchFamily="34" charset="-122"/>
                <a:cs typeface="Calibri" panose="020F0502020204030204" pitchFamily="34" charset="-120"/>
              </a:rPr>
              <a:t>Python  •  Streamlit  •  Scikit-learn  •  Pandas  •  Plotly</a:t>
            </a:r>
            <a:endParaRPr lang="en-US" sz="1200" dirty="0">
              <a:solidFill>
                <a:schemeClr val="tx1"/>
              </a:solidFill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文本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62990" y="5560492"/>
            <a:ext cx="2975659" cy="69001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90000" tIns="46800" rIns="90000" bIns="46800" rtlCol="0" anchor="ctr">
            <a:norm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1"/>
                </a:solidFill>
              </a:rPr>
              <a:t>Dur E Shehwar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文本占位符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82800" y="3538710"/>
            <a:ext cx="5519420" cy="544836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  <a:prstDash val="sysDash"/>
          </a:ln>
          <a:effectLst/>
        </p:spPr>
        <p:txBody>
          <a:bodyPr vert="horz" wrap="square" lIns="91440" tIns="45720" rIns="91440" bIns="45720" rtlCol="0" anchor="t" anchorCtr="0">
            <a:normAutofit fontScale="80000"/>
          </a:bodyPr>
          <a:lstStyle>
            <a:defPPr>
              <a:defRPr lang="en-US">
                <a:latin typeface="+mj-lt"/>
              </a:defRPr>
            </a:defPPr>
            <a:lvl1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Microsoft YaHei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j-ea"/>
                <a:ea typeface="+mj-ea"/>
                <a:cs typeface="Microsoft YaHei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>
                    <a:lumMod val="50000"/>
                    <a:lumOff val="50000"/>
                  </a:schemeClr>
                </a:solidFill>
              </a:rPr>
              <a:t>Pakistan Job Market Intelligence Platform</a:t>
            </a:r>
            <a:endParaRPr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9"/>
            <p:custDataLst>
              <p:tags r:id="rId4"/>
            </p:custDataLst>
          </p:nvPr>
        </p:nvSpPr>
        <p:spPr>
          <a:xfrm>
            <a:off x="982980" y="3964940"/>
            <a:ext cx="7226300" cy="486410"/>
          </a:xfrm>
        </p:spPr>
        <p:txBody>
          <a:bodyPr/>
          <a:lstStyle/>
          <a:p>
            <a:r>
              <a:rPr sz="1400"/>
              <a:t>Turning raw job postings into skill, career, and market insights</a:t>
            </a:r>
            <a:endParaRPr sz="1400"/>
          </a:p>
        </p:txBody>
      </p:sp>
      <p:sp>
        <p:nvSpPr>
          <p:cNvPr id="10" name="标题 9"/>
          <p:cNvSpPr>
            <a:spLocks noGrp="1"/>
          </p:cNvSpPr>
          <p:nvPr>
            <p:ph type="title" idx="1"/>
            <p:custDataLst>
              <p:tags r:id="rId5"/>
            </p:custDataLst>
          </p:nvPr>
        </p:nvSpPr>
        <p:spPr>
          <a:xfrm>
            <a:off x="868700" y="126909"/>
            <a:ext cx="6545560" cy="3411788"/>
          </a:xfrm>
        </p:spPr>
        <p:txBody>
          <a:bodyPr/>
          <a:lstStyle/>
          <a:p>
            <a:r>
              <a:rPr altLang="zh-CN"/>
              <a:t>JOBLENS</a:t>
            </a:r>
            <a:endParaRPr altLang="zh-CN"/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/>
                <a:ea typeface="+mj-ea"/>
                <a:cs typeface="Cambria" panose="02040503050406030204" pitchFamily="34" charset="-120"/>
              </a:rPr>
              <a:t>Intro &amp; Problem Statement</a:t>
            </a:r>
            <a:endParaRPr lang="en-US" sz="3000" b="1" dirty="0">
              <a:solidFill>
                <a:schemeClr val="accent1"/>
              </a:solidFill>
              <a:latin typeface="+mj-lt"/>
              <a:ea typeface="+mj-ea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>
            <p:custDataLst>
              <p:tags r:id="rId2"/>
            </p:custDataLst>
          </p:nvPr>
        </p:nvSpPr>
        <p:spPr>
          <a:xfrm>
            <a:off x="640080" y="1417320"/>
            <a:ext cx="5212080" cy="4663440"/>
          </a:xfrm>
          <a:prstGeom prst="roundRect">
            <a:avLst>
              <a:gd name="adj" fmla="val 2353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960120" y="1737360"/>
            <a:ext cx="502920" cy="5029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960120" y="17373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i="1" dirty="0">
                <a:solidFill>
                  <a:schemeClr val="bg1"/>
                </a:solidFill>
                <a:cs typeface="Cambria" panose="02040503050406030204" pitchFamily="34" charset="-120"/>
              </a:rPr>
              <a:t>i</a:t>
            </a:r>
            <a:endParaRPr lang="en-US" sz="2200" b="1" i="1" dirty="0">
              <a:solidFill>
                <a:schemeClr val="bg1"/>
              </a:solidFill>
              <a:cs typeface="Cambria" panose="0204050305040603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5"/>
            </p:custDataLst>
          </p:nvPr>
        </p:nvSpPr>
        <p:spPr>
          <a:xfrm>
            <a:off x="1645920" y="1737360"/>
            <a:ext cx="3931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What is JobLens?</a:t>
            </a:r>
            <a:endParaRPr lang="en-US" sz="1800" b="1" dirty="0">
              <a:solidFill>
                <a:schemeClr val="accent1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6"/>
            </p:custDataLst>
          </p:nvPr>
        </p:nvSpPr>
        <p:spPr>
          <a:xfrm>
            <a:off x="960120" y="2423160"/>
            <a:ext cx="4617720" cy="1645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chemeClr val="accent1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A Python-based analytics platform that processes real Pakistani job postings and turns them into an interactive Streamlit dashboard — covering job demand, in-demand skills, career paths, and skill gaps.</a:t>
            </a:r>
            <a:endParaRPr lang="en-US" sz="1350" dirty="0">
              <a:solidFill>
                <a:schemeClr val="accent1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7"/>
            </p:custDataLst>
          </p:nvPr>
        </p:nvSpPr>
        <p:spPr>
          <a:xfrm>
            <a:off x="960120" y="4297680"/>
            <a:ext cx="4617720" cy="146304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chemeClr val="accent1">
                    <a:lumMod val="50000"/>
                    <a:hueOff val="9600000"/>
                  </a:schemeClr>
                </a:solidFill>
                <a:cs typeface="Cambria" panose="02040503050406030204" pitchFamily="34" charset="-120"/>
              </a:rPr>
              <a:t>5,625 </a:t>
            </a: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unique job postings analyzed, across </a:t>
            </a:r>
            <a:r>
              <a:rPr lang="en-US" sz="2400" b="1" dirty="0">
                <a:solidFill>
                  <a:schemeClr val="accent1">
                    <a:lumMod val="50000"/>
                    <a:hueOff val="9600000"/>
                  </a:schemeClr>
                </a:solidFill>
                <a:cs typeface="Cambria" panose="02040503050406030204" pitchFamily="34" charset="-120"/>
              </a:rPr>
              <a:t>2,880 </a:t>
            </a: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companies and </a:t>
            </a:r>
            <a:r>
              <a:rPr lang="en-US" sz="2400" b="1" dirty="0">
                <a:solidFill>
                  <a:schemeClr val="accent1">
                    <a:lumMod val="50000"/>
                    <a:hueOff val="9600000"/>
                  </a:schemeClr>
                </a:solidFill>
                <a:cs typeface="Cambria" panose="02040503050406030204" pitchFamily="34" charset="-120"/>
              </a:rPr>
              <a:t>86 </a:t>
            </a:r>
            <a:r>
              <a:rPr lang="en-US" sz="1300" dirty="0">
                <a:solidFill>
                  <a:schemeClr val="accent1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cities.</a:t>
            </a:r>
            <a:endParaRPr lang="en-US" sz="1300" dirty="0">
              <a:solidFill>
                <a:schemeClr val="accent1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>
            <p:custDataLst>
              <p:tags r:id="rId8"/>
            </p:custDataLst>
          </p:nvPr>
        </p:nvSpPr>
        <p:spPr>
          <a:xfrm>
            <a:off x="6126480" y="1417320"/>
            <a:ext cx="5394960" cy="4663440"/>
          </a:xfrm>
          <a:prstGeom prst="roundRect">
            <a:avLst>
              <a:gd name="adj" fmla="val 2353"/>
            </a:avLst>
          </a:prstGeom>
        </p:spPr>
        <p:style>
          <a:lnRef idx="2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Shape 8"/>
          <p:cNvSpPr/>
          <p:nvPr>
            <p:custDataLst>
              <p:tags r:id="rId9"/>
            </p:custDataLst>
          </p:nvPr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chemeClr val="accent4"/>
          </a:solidFill>
        </p:spPr>
      </p:sp>
      <p:sp>
        <p:nvSpPr>
          <p:cNvPr id="11" name="Text 9"/>
          <p:cNvSpPr/>
          <p:nvPr>
            <p:custDataLst>
              <p:tags r:id="rId10"/>
            </p:custDataLst>
          </p:nvPr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cs typeface="Cambria" panose="02040503050406030204" pitchFamily="34" charset="-120"/>
              </a:rPr>
              <a:t>?</a:t>
            </a:r>
            <a:endParaRPr lang="en-US" sz="2200" b="1" dirty="0">
              <a:solidFill>
                <a:schemeClr val="bg1"/>
              </a:solidFill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11"/>
            </p:custDataLst>
          </p:nvPr>
        </p:nvSpPr>
        <p:spPr>
          <a:xfrm>
            <a:off x="7132320" y="1737360"/>
            <a:ext cx="402336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cs typeface="Calibri" panose="020F0502020204030204" pitchFamily="34" charset="-120"/>
              </a:rPr>
              <a:t>The Problem</a:t>
            </a:r>
            <a:endParaRPr lang="en-US" sz="1800" b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2"/>
            </p:custDataLst>
          </p:nvPr>
        </p:nvSpPr>
        <p:spPr>
          <a:xfrm>
            <a:off x="6446520" y="2377440"/>
            <a:ext cx="48463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Students and job seekers struggle to answer three questions:</a:t>
            </a:r>
            <a:endParaRPr lang="en-US" sz="1350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13"/>
            </p:custDataLst>
          </p:nvPr>
        </p:nvSpPr>
        <p:spPr>
          <a:xfrm>
            <a:off x="6446520" y="3017520"/>
            <a:ext cx="256032" cy="25603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3"/>
          <p:cNvSpPr/>
          <p:nvPr>
            <p:custDataLst>
              <p:tags r:id="rId14"/>
            </p:custDataLst>
          </p:nvPr>
        </p:nvSpPr>
        <p:spPr>
          <a:xfrm>
            <a:off x="6446520" y="299923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lt1"/>
                </a:solidFill>
                <a:cs typeface="Calibri" panose="020F0502020204030204" pitchFamily="34" charset="-120"/>
              </a:rPr>
              <a:t>→</a:t>
            </a:r>
            <a:endParaRPr lang="en-US" sz="1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5"/>
            </p:custDataLst>
          </p:nvPr>
        </p:nvSpPr>
        <p:spPr>
          <a:xfrm>
            <a:off x="6858000" y="2880360"/>
            <a:ext cx="45720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cs typeface="Calibri" panose="020F0502020204030204" pitchFamily="34" charset="-120"/>
              </a:rPr>
              <a:t>Which skills are actually in demand right now?</a:t>
            </a:r>
            <a:endParaRPr lang="en-US" sz="1300" dirty="0">
              <a:solidFill>
                <a:srgbClr val="002060"/>
              </a:solidFill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16"/>
            </p:custDataLst>
          </p:nvPr>
        </p:nvSpPr>
        <p:spPr>
          <a:xfrm>
            <a:off x="6446520" y="3794760"/>
            <a:ext cx="256032" cy="25603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6"/>
          <p:cNvSpPr/>
          <p:nvPr>
            <p:custDataLst>
              <p:tags r:id="rId17"/>
            </p:custDataLst>
          </p:nvPr>
        </p:nvSpPr>
        <p:spPr>
          <a:xfrm>
            <a:off x="6446520" y="377647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lt1"/>
                </a:solidFill>
                <a:cs typeface="Calibri" panose="020F0502020204030204" pitchFamily="34" charset="-120"/>
              </a:rPr>
              <a:t>→</a:t>
            </a:r>
            <a:endParaRPr lang="en-US" sz="1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8"/>
            </p:custDataLst>
          </p:nvPr>
        </p:nvSpPr>
        <p:spPr>
          <a:xfrm>
            <a:off x="6858000" y="3648710"/>
            <a:ext cx="45720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cs typeface="Calibri" panose="020F0502020204030204" pitchFamily="34" charset="-120"/>
              </a:rPr>
              <a:t>Which roles match the skills I already have?</a:t>
            </a:r>
            <a:endParaRPr lang="en-US" sz="1300" dirty="0">
              <a:solidFill>
                <a:srgbClr val="002060"/>
              </a:solidFill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9"/>
            </p:custDataLst>
          </p:nvPr>
        </p:nvSpPr>
        <p:spPr>
          <a:xfrm>
            <a:off x="6446520" y="4572000"/>
            <a:ext cx="256032" cy="25603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1" name="Text 19"/>
          <p:cNvSpPr/>
          <p:nvPr>
            <p:custDataLst>
              <p:tags r:id="rId20"/>
            </p:custDataLst>
          </p:nvPr>
        </p:nvSpPr>
        <p:spPr>
          <a:xfrm>
            <a:off x="6446520" y="455371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lt1"/>
                </a:solidFill>
                <a:cs typeface="Calibri" panose="020F0502020204030204" pitchFamily="34" charset="-120"/>
              </a:rPr>
              <a:t>→</a:t>
            </a:r>
            <a:endParaRPr lang="en-US" sz="1200" b="1" dirty="0">
              <a:solidFill>
                <a:schemeClr val="lt1"/>
              </a:solidFill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21"/>
            </p:custDataLst>
          </p:nvPr>
        </p:nvSpPr>
        <p:spPr>
          <a:xfrm>
            <a:off x="6858000" y="4417060"/>
            <a:ext cx="45720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2060"/>
                </a:solidFill>
                <a:cs typeface="Calibri" panose="020F0502020204030204" pitchFamily="34" charset="-120"/>
              </a:rPr>
              <a:t>What should I learn next to improve my chances?</a:t>
            </a:r>
            <a:endParaRPr lang="en-US" sz="1300" dirty="0">
              <a:solidFill>
                <a:srgbClr val="002060"/>
              </a:solidFill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22"/>
            </p:custDataLst>
          </p:nvPr>
        </p:nvSpPr>
        <p:spPr>
          <a:xfrm>
            <a:off x="6446520" y="5486400"/>
            <a:ext cx="4846320" cy="5029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JobLens closes this gap with data-driven skill extraction, career-path detection, and job matching.</a:t>
            </a:r>
            <a:endParaRPr lang="en-US" sz="1250" i="1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0000"/>
              </a:schemeClr>
            </a:gs>
            <a:gs pos="100000">
              <a:schemeClr val="bg1"/>
            </a:gs>
          </a:gsLst>
          <a:lin ang="14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custDataLst>
              <p:tags r:id="rId1"/>
            </p:custDataLst>
          </p:nvPr>
        </p:nvSpPr>
        <p:spPr>
          <a:xfrm>
            <a:off x="640080" y="443865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  <a:cs typeface="Calibri" panose="020F0502020204030204" pitchFamily="34" charset="-120"/>
              </a:rPr>
              <a:t>The main logic applied across the pipeline</a:t>
            </a:r>
            <a:endParaRPr lang="en-US" i="1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1351915" y="3015615"/>
            <a:ext cx="3264535" cy="642620"/>
          </a:xfrm>
        </p:spPr>
        <p:txBody>
          <a:bodyPr>
            <a:noAutofit/>
          </a:bodyPr>
          <a:lstStyle/>
          <a:p>
            <a:r>
              <a:rPr sz="4000"/>
              <a:t>Core </a:t>
            </a:r>
            <a:br>
              <a:rPr sz="4000"/>
            </a:br>
            <a:r>
              <a:rPr sz="4000"/>
              <a:t>Concepts</a:t>
            </a:r>
            <a:endParaRPr sz="4000"/>
          </a:p>
        </p:txBody>
      </p:sp>
      <p:sp>
        <p:nvSpPr>
          <p:cNvPr id="15" name="序号"/>
          <p:cNvSpPr txBox="1"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615430" y="1083945"/>
            <a:ext cx="683895" cy="683895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01</a:t>
            </a:r>
            <a:endParaRPr lang="en-US" sz="2400" b="1" dirty="0">
              <a:solidFill>
                <a:schemeClr val="lt1">
                  <a:lumMod val="100000"/>
                </a:schemeClr>
              </a:solidFill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16" name="标题"/>
          <p:cNvSpPr txBox="1"/>
          <p:nvPr>
            <p:custDataLst>
              <p:tags r:id="rId4"/>
            </p:custDataLst>
          </p:nvPr>
        </p:nvSpPr>
        <p:spPr>
          <a:xfrm>
            <a:off x="7705090" y="1290320"/>
            <a:ext cx="420878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 lnSpcReduction="10000"/>
          </a:bodyPr>
          <a:lstStyle/>
          <a:p>
            <a:r>
              <a:rPr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Data Processing</a:t>
            </a:r>
            <a:endParaRPr lang="en-US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4" name="序号"/>
          <p:cNvSpPr txBox="1"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615430" y="2225040"/>
            <a:ext cx="683895" cy="683895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 dirty="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02</a:t>
            </a:r>
            <a:endParaRPr lang="en-US" sz="2400" b="1" dirty="0">
              <a:solidFill>
                <a:schemeClr val="lt1">
                  <a:lumMod val="100000"/>
                </a:schemeClr>
              </a:solidFill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25" name="标题"/>
          <p:cNvSpPr txBox="1"/>
          <p:nvPr>
            <p:custDataLst>
              <p:tags r:id="rId6"/>
            </p:custDataLst>
          </p:nvPr>
        </p:nvSpPr>
        <p:spPr>
          <a:xfrm>
            <a:off x="7705090" y="2431415"/>
            <a:ext cx="420878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lnSpcReduction="10000"/>
          </a:bodyPr>
          <a:lstStyle/>
          <a:p>
            <a:r>
              <a:rPr lang="en-US" altLang="en-US" sz="2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Skill Extraction</a:t>
            </a:r>
            <a:endParaRPr lang="en-US" altLang="en-US" sz="23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序号"/>
          <p:cNvSpPr txBox="1"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615430" y="3366135"/>
            <a:ext cx="683895" cy="683895"/>
          </a:xfrm>
          <a:prstGeom prst="ellipse">
            <a:avLst/>
          </a:prstGeom>
          <a:solidFill>
            <a:schemeClr val="accent3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03</a:t>
            </a:r>
            <a:endParaRPr lang="en-US" sz="2400" b="1">
              <a:solidFill>
                <a:schemeClr val="lt1">
                  <a:lumMod val="100000"/>
                </a:schemeClr>
              </a:solidFill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29" name="标题"/>
          <p:cNvSpPr txBox="1"/>
          <p:nvPr>
            <p:custDataLst>
              <p:tags r:id="rId8"/>
            </p:custDataLst>
          </p:nvPr>
        </p:nvSpPr>
        <p:spPr>
          <a:xfrm>
            <a:off x="7705090" y="3572510"/>
            <a:ext cx="420878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 lnSpcReduction="10000"/>
          </a:bodyPr>
          <a:lstStyle/>
          <a:p>
            <a:r>
              <a:rPr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Market Analytics</a:t>
            </a:r>
            <a:endParaRPr lang="en-US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序号"/>
          <p:cNvSpPr txBox="1"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615430" y="4507230"/>
            <a:ext cx="683895" cy="683895"/>
          </a:xfrm>
          <a:prstGeom prst="ellipse">
            <a:avLst/>
          </a:prstGeom>
          <a:solidFill>
            <a:schemeClr val="accent4"/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04</a:t>
            </a:r>
            <a:endParaRPr lang="en-US" sz="2400" b="1">
              <a:solidFill>
                <a:schemeClr val="lt1">
                  <a:lumMod val="100000"/>
                </a:schemeClr>
              </a:solidFill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32" name="标题"/>
          <p:cNvSpPr txBox="1"/>
          <p:nvPr>
            <p:custDataLst>
              <p:tags r:id="rId10"/>
            </p:custDataLst>
          </p:nvPr>
        </p:nvSpPr>
        <p:spPr>
          <a:xfrm>
            <a:off x="7705090" y="4713605"/>
            <a:ext cx="420878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 lnSpcReduction="10000"/>
          </a:bodyPr>
          <a:lstStyle/>
          <a:p>
            <a:r>
              <a:rPr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Job Matching</a:t>
            </a:r>
            <a:endParaRPr lang="en-US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序号"/>
          <p:cNvSpPr txBox="1"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615430" y="5572760"/>
            <a:ext cx="683895" cy="68389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2400" b="1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Arial" panose="020B0604020202020204" pitchFamily="34" charset="0"/>
              </a:rPr>
              <a:t>05</a:t>
            </a:r>
            <a:endParaRPr lang="en-US" sz="2400" b="1">
              <a:solidFill>
                <a:schemeClr val="lt1">
                  <a:lumMod val="100000"/>
                </a:schemeClr>
              </a:solidFill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/>
          <p:nvPr>
            <p:custDataLst>
              <p:tags r:id="rId12"/>
            </p:custDataLst>
          </p:nvPr>
        </p:nvSpPr>
        <p:spPr>
          <a:xfrm>
            <a:off x="7705090" y="5730240"/>
            <a:ext cx="420878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7500" lnSpcReduction="10000"/>
          </a:bodyPr>
          <a:lstStyle/>
          <a:p>
            <a:r>
              <a:rPr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Machine Learning</a:t>
            </a:r>
            <a:endParaRPr lang="en-US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2"/>
          <p:cNvSpPr/>
          <p:nvPr>
            <p:custDataLst>
              <p:tags r:id="rId1"/>
            </p:custDataLst>
          </p:nvPr>
        </p:nvSpPr>
        <p:spPr>
          <a:xfrm>
            <a:off x="3861753" y="1237933"/>
            <a:ext cx="4326890" cy="4326890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100000">
                <a:schemeClr val="accent1">
                  <a:lumMod val="20000"/>
                  <a:lumOff val="80000"/>
                  <a:alpha val="51000"/>
                </a:schemeClr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4901248" y="2277428"/>
            <a:ext cx="2247900" cy="2247900"/>
          </a:xfrm>
          <a:prstGeom prst="ellipse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10" name="椭圆 9"/>
          <p:cNvSpPr/>
          <p:nvPr>
            <p:custDataLst>
              <p:tags r:id="rId3"/>
            </p:custDataLst>
          </p:nvPr>
        </p:nvSpPr>
        <p:spPr>
          <a:xfrm>
            <a:off x="5061902" y="2429828"/>
            <a:ext cx="1944000" cy="1944000"/>
          </a:xfrm>
          <a:prstGeom prst="ellipse">
            <a:avLst/>
          </a:prstGeom>
          <a:gradFill>
            <a:gsLst>
              <a:gs pos="100000">
                <a:schemeClr val="accent1">
                  <a:alpha val="100000"/>
                </a:schemeClr>
              </a:gs>
              <a:gs pos="50000">
                <a:schemeClr val="accent1">
                  <a:lumMod val="80000"/>
                  <a:lumOff val="2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>
            <a:noFill/>
          </a:ln>
          <a:effectLst>
            <a:outerShdw blurRad="2159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 sz="2000" b="1">
              <a:solidFill>
                <a:srgbClr val="FFFFFF"/>
              </a:solidFill>
              <a:latin typeface="+mj-lt"/>
              <a:sym typeface="+mn-lt"/>
            </a:endParaRPr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4306888" y="1683068"/>
            <a:ext cx="3436620" cy="3437255"/>
          </a:xfrm>
          <a:prstGeom prst="ellipse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93" name="椭圆 592"/>
          <p:cNvSpPr/>
          <p:nvPr>
            <p:custDataLst>
              <p:tags r:id="rId5"/>
            </p:custDataLst>
          </p:nvPr>
        </p:nvSpPr>
        <p:spPr>
          <a:xfrm>
            <a:off x="4664393" y="4379278"/>
            <a:ext cx="584200" cy="584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587" name="椭圆 586"/>
          <p:cNvSpPr/>
          <p:nvPr>
            <p:custDataLst>
              <p:tags r:id="rId6"/>
            </p:custDataLst>
          </p:nvPr>
        </p:nvSpPr>
        <p:spPr>
          <a:xfrm>
            <a:off x="4131628" y="2485708"/>
            <a:ext cx="584200" cy="584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588" name="椭圆 587"/>
          <p:cNvSpPr/>
          <p:nvPr>
            <p:custDataLst>
              <p:tags r:id="rId7"/>
            </p:custDataLst>
          </p:nvPr>
        </p:nvSpPr>
        <p:spPr>
          <a:xfrm>
            <a:off x="7333933" y="2653348"/>
            <a:ext cx="584200" cy="584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39700" dist="50800" dir="2700000" algn="tl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" name="矩形 3"/>
          <p:cNvSpPr/>
          <p:nvPr>
            <p:custDataLst>
              <p:tags r:id="rId8"/>
            </p:custDataLst>
          </p:nvPr>
        </p:nvSpPr>
        <p:spPr>
          <a:xfrm>
            <a:off x="582930" y="3031490"/>
            <a:ext cx="3380740" cy="1057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ym typeface="+mn-ea"/>
              </a:rPr>
              <a:t>User skills → Career group → Missing skills</a:t>
            </a:r>
            <a:endParaRPr lang="en-US" altLang="en-US"/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583248" y="2429828"/>
            <a:ext cx="3187700" cy="7537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1"/>
                </a:solidFill>
                <a:sym typeface="+mn-ea"/>
              </a:rPr>
              <a:t>Skill Gap Analyzer</a:t>
            </a:r>
            <a:endParaRPr lang="en-US" altLang="en-US" sz="2400" b="1">
              <a:solidFill>
                <a:schemeClr val="accent1"/>
              </a:solidFill>
            </a:endParaRPr>
          </a:p>
          <a:p>
            <a:pPr algn="r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1210945" y="5293360"/>
            <a:ext cx="3384550" cy="15386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lstStyle/>
          <a:p>
            <a:pPr indent="0" algn="r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Match score</a:t>
            </a:r>
            <a:endParaRPr lang="en-US" altLang="en-US"/>
          </a:p>
          <a:p>
            <a:pPr indent="0" algn="r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Matched skills</a:t>
            </a:r>
            <a:endParaRPr lang="en-US" altLang="en-US"/>
          </a:p>
          <a:p>
            <a:pPr indent="0" algn="r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Missing skills</a:t>
            </a:r>
            <a:endParaRPr lang="en-US" altLang="en-US"/>
          </a:p>
          <a:p>
            <a:pPr indent="0" algn="r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Suitable jobs</a:t>
            </a:r>
            <a:endParaRPr lang="en-US" altLang="en-US"/>
          </a:p>
          <a:p>
            <a:pPr marL="285750" indent="-285750"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7589838" y="4934903"/>
            <a:ext cx="3186000" cy="7537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1"/>
                </a:solidFill>
                <a:sym typeface="+mn-ea"/>
              </a:rPr>
              <a:t>Job Explorer</a:t>
            </a:r>
            <a:endParaRPr lang="en-US" altLang="en-US" sz="2400" b="1">
              <a:solidFill>
                <a:schemeClr val="accent1"/>
              </a:solidFill>
            </a:endParaRPr>
          </a:p>
          <a:p>
            <a:pPr algn="l">
              <a:spcBef>
                <a:spcPct val="0"/>
              </a:spcBef>
              <a:spcAft>
                <a:spcPct val="0"/>
              </a:spcAft>
            </a:pPr>
            <a:endParaRPr lang="en-US" altLang="en-US" sz="24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8306118" y="3031173"/>
            <a:ext cx="3187700" cy="1057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Job title + description</a:t>
            </a:r>
            <a:endParaRPr lang="en-US" altLang="en-US"/>
          </a:p>
          <a:p>
            <a:pPr indent="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Predicts top departments</a:t>
            </a:r>
            <a:endParaRPr lang="en-US" altLang="en-US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13"/>
            </p:custDataLst>
          </p:nvPr>
        </p:nvSpPr>
        <p:spPr>
          <a:xfrm>
            <a:off x="8279765" y="2653665"/>
            <a:ext cx="3810000" cy="7537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1"/>
                </a:solidFill>
                <a:sym typeface="+mn-ea"/>
              </a:rPr>
              <a:t>AI Job Category Predictor</a:t>
            </a:r>
            <a:endParaRPr lang="en-US" altLang="en-US" sz="2400" b="1">
              <a:solidFill>
                <a:schemeClr val="accent1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弧形 13"/>
          <p:cNvSpPr/>
          <p:nvPr>
            <p:custDataLst>
              <p:tags r:id="rId14"/>
            </p:custDataLst>
          </p:nvPr>
        </p:nvSpPr>
        <p:spPr>
          <a:xfrm rot="7200000">
            <a:off x="4640898" y="2017078"/>
            <a:ext cx="2769235" cy="2769235"/>
          </a:xfrm>
          <a:prstGeom prst="arc">
            <a:avLst>
              <a:gd name="adj1" fmla="val 15835561"/>
              <a:gd name="adj2" fmla="val 21121678"/>
            </a:avLst>
          </a:prstGeom>
          <a:ln w="6350">
            <a:gradFill>
              <a:gsLst>
                <a:gs pos="0">
                  <a:schemeClr val="accent2">
                    <a:alpha val="0"/>
                  </a:schemeClr>
                </a:gs>
                <a:gs pos="60000">
                  <a:schemeClr val="accent2">
                    <a:alpha val="100000"/>
                  </a:schemeClr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弧形 14"/>
          <p:cNvSpPr/>
          <p:nvPr>
            <p:custDataLst>
              <p:tags r:id="rId15"/>
            </p:custDataLst>
          </p:nvPr>
        </p:nvSpPr>
        <p:spPr>
          <a:xfrm rot="20880000">
            <a:off x="4654233" y="2017713"/>
            <a:ext cx="2769235" cy="2769235"/>
          </a:xfrm>
          <a:prstGeom prst="arc">
            <a:avLst>
              <a:gd name="adj1" fmla="val 15835561"/>
              <a:gd name="adj2" fmla="val 21121678"/>
            </a:avLst>
          </a:prstGeom>
          <a:ln w="6350">
            <a:gradFill>
              <a:gsLst>
                <a:gs pos="0">
                  <a:schemeClr val="accent1">
                    <a:alpha val="0"/>
                  </a:schemeClr>
                </a:gs>
                <a:gs pos="60000">
                  <a:schemeClr val="accent1">
                    <a:alpha val="100000"/>
                  </a:schemeClr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弧形 15"/>
          <p:cNvSpPr/>
          <p:nvPr>
            <p:custDataLst>
              <p:tags r:id="rId16"/>
            </p:custDataLst>
          </p:nvPr>
        </p:nvSpPr>
        <p:spPr>
          <a:xfrm rot="13140000">
            <a:off x="4654233" y="2017712"/>
            <a:ext cx="2769235" cy="2769235"/>
          </a:xfrm>
          <a:prstGeom prst="arc">
            <a:avLst>
              <a:gd name="adj1" fmla="val 15835561"/>
              <a:gd name="adj2" fmla="val 21121678"/>
            </a:avLst>
          </a:prstGeom>
          <a:ln w="6350">
            <a:gradFill>
              <a:gsLst>
                <a:gs pos="0">
                  <a:schemeClr val="accent1">
                    <a:alpha val="0"/>
                  </a:schemeClr>
                </a:gs>
                <a:gs pos="60000">
                  <a:schemeClr val="accent1">
                    <a:alpha val="100000"/>
                  </a:schemeClr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>
            <p:custDataLst>
              <p:tags r:id="rId17"/>
            </p:custDataLst>
          </p:nvPr>
        </p:nvSpPr>
        <p:spPr>
          <a:xfrm>
            <a:off x="5238433" y="3031173"/>
            <a:ext cx="1573530" cy="58928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>
                    <a:lumMod val="100000"/>
                  </a:schemeClr>
                </a:solidFill>
                <a:latin typeface="+mj-lt"/>
              </a:rPr>
              <a:t>Main </a:t>
            </a:r>
            <a:endParaRPr lang="en-US" sz="2400" b="1">
              <a:solidFill>
                <a:schemeClr val="lt1">
                  <a:lumMod val="100000"/>
                </a:schemeClr>
              </a:solidFill>
              <a:latin typeface="+mj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chemeClr val="lt1">
                    <a:lumMod val="100000"/>
                  </a:schemeClr>
                </a:solidFill>
                <a:latin typeface="+mj-lt"/>
              </a:rPr>
              <a:t>Features</a:t>
            </a:r>
            <a:endParaRPr lang="en-US" sz="2400" b="1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8" name="椭圆 586"/>
          <p:cNvSpPr/>
          <p:nvPr>
            <p:custDataLst>
              <p:tags r:id="rId18"/>
            </p:custDataLst>
          </p:nvPr>
        </p:nvSpPr>
        <p:spPr>
          <a:xfrm>
            <a:off x="5809298" y="1454468"/>
            <a:ext cx="584200" cy="584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椭圆 586"/>
          <p:cNvSpPr/>
          <p:nvPr>
            <p:custDataLst>
              <p:tags r:id="rId19"/>
            </p:custDataLst>
          </p:nvPr>
        </p:nvSpPr>
        <p:spPr>
          <a:xfrm>
            <a:off x="7005638" y="4393883"/>
            <a:ext cx="584200" cy="584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12" name="矩形 16"/>
          <p:cNvSpPr/>
          <p:nvPr>
            <p:custDataLst>
              <p:tags r:id="rId20"/>
            </p:custDataLst>
          </p:nvPr>
        </p:nvSpPr>
        <p:spPr>
          <a:xfrm>
            <a:off x="7589838" y="5434648"/>
            <a:ext cx="3186000" cy="10572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Search and filter jobs</a:t>
            </a:r>
            <a:endParaRPr lang="en-US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矩形 18"/>
          <p:cNvSpPr/>
          <p:nvPr>
            <p:custDataLst>
              <p:tags r:id="rId21"/>
            </p:custDataLst>
          </p:nvPr>
        </p:nvSpPr>
        <p:spPr>
          <a:xfrm>
            <a:off x="1337628" y="4441508"/>
            <a:ext cx="3186000" cy="7537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1"/>
                </a:solidFill>
                <a:sym typeface="+mn-ea"/>
              </a:rPr>
              <a:t>Job Matching</a:t>
            </a:r>
            <a:endParaRPr lang="en-US" altLang="en-US" sz="2400" b="1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18" name="矩形 16"/>
          <p:cNvSpPr/>
          <p:nvPr>
            <p:custDataLst>
              <p:tags r:id="rId22"/>
            </p:custDataLst>
          </p:nvPr>
        </p:nvSpPr>
        <p:spPr>
          <a:xfrm>
            <a:off x="4396740" y="57150"/>
            <a:ext cx="3185795" cy="10064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lstStyle/>
          <a:p>
            <a:pPr indent="0" algn="ctr">
              <a:lnSpc>
                <a:spcPct val="150000"/>
              </a:lnSpc>
              <a:buNone/>
            </a:pPr>
            <a:r>
              <a:rPr lang="en-US" altLang="en-US" sz="1600">
                <a:sym typeface="+mn-ea"/>
              </a:rPr>
              <a:t>Jobs, companies, cities</a:t>
            </a:r>
            <a:endParaRPr lang="en-US" altLang="en-US" sz="1600"/>
          </a:p>
          <a:p>
            <a:pPr indent="0" algn="ctr">
              <a:lnSpc>
                <a:spcPct val="150000"/>
              </a:lnSpc>
              <a:buNone/>
            </a:pPr>
            <a:r>
              <a:rPr lang="en-US" altLang="en-US" sz="1600">
                <a:sym typeface="+mn-ea"/>
              </a:rPr>
              <a:t>Skill demand</a:t>
            </a:r>
            <a:endParaRPr lang="en-US" altLang="en-US" sz="1600"/>
          </a:p>
          <a:p>
            <a:pPr indent="0" algn="ctr">
              <a:lnSpc>
                <a:spcPct val="150000"/>
              </a:lnSpc>
              <a:buNone/>
            </a:pPr>
            <a:r>
              <a:rPr lang="en-US" altLang="en-US" sz="1600">
                <a:sym typeface="+mn-ea"/>
              </a:rPr>
              <a:t>Job trends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3" name="矩形 18"/>
          <p:cNvSpPr/>
          <p:nvPr>
            <p:custDataLst>
              <p:tags r:id="rId23"/>
            </p:custDataLst>
          </p:nvPr>
        </p:nvSpPr>
        <p:spPr>
          <a:xfrm>
            <a:off x="4523423" y="615633"/>
            <a:ext cx="3186000" cy="7537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solidFill>
                  <a:schemeClr val="accent1"/>
                </a:solidFill>
                <a:sym typeface="+mn-ea"/>
              </a:rPr>
              <a:t>Market Overview</a:t>
            </a:r>
            <a:endParaRPr lang="en-US" altLang="en-US" sz="2400" b="1">
              <a:solidFill>
                <a:schemeClr val="accent1"/>
              </a:solidFill>
              <a:latin typeface="+mj-lt"/>
              <a:sym typeface="+mn-ea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椭圆 22"/>
          <p:cNvSpPr/>
          <p:nvPr>
            <p:custDataLst>
              <p:tags r:id="rId1"/>
            </p:custDataLst>
          </p:nvPr>
        </p:nvSpPr>
        <p:spPr>
          <a:xfrm>
            <a:off x="2784793" y="1332865"/>
            <a:ext cx="6450330" cy="223393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 w="6350">
            <a:solidFill>
              <a:schemeClr val="accent1">
                <a:alpha val="1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椭圆 23"/>
          <p:cNvSpPr/>
          <p:nvPr>
            <p:custDataLst>
              <p:tags r:id="rId2"/>
            </p:custDataLst>
          </p:nvPr>
        </p:nvSpPr>
        <p:spPr>
          <a:xfrm>
            <a:off x="3172143" y="1332865"/>
            <a:ext cx="5674995" cy="191389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81000">
                <a:schemeClr val="accent1">
                  <a:lumMod val="20000"/>
                  <a:lumOff val="80000"/>
                  <a:alpha val="25000"/>
                </a:schemeClr>
              </a:gs>
            </a:gsLst>
            <a:lin ang="5400000" scaled="0"/>
          </a:gradFill>
          <a:ln w="6350">
            <a:solidFill>
              <a:schemeClr val="accent1">
                <a:alpha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3"/>
            </p:custDataLst>
          </p:nvPr>
        </p:nvSpPr>
        <p:spPr>
          <a:xfrm>
            <a:off x="3761423" y="1332865"/>
            <a:ext cx="4496435" cy="150495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77000">
                <a:schemeClr val="accent1">
                  <a:lumMod val="20000"/>
                  <a:lumOff val="80000"/>
                  <a:alpha val="40000"/>
                </a:schemeClr>
              </a:gs>
            </a:gsLst>
            <a:lin ang="5400000" scaled="0"/>
          </a:gradFill>
          <a:ln w="6350">
            <a:solidFill>
              <a:schemeClr val="accent1">
                <a:alpha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8" name="圆角矩形 27"/>
          <p:cNvSpPr/>
          <p:nvPr>
            <p:custDataLst>
              <p:tags r:id="rId4"/>
            </p:custDataLst>
          </p:nvPr>
        </p:nvSpPr>
        <p:spPr>
          <a:xfrm>
            <a:off x="1113155" y="2174240"/>
            <a:ext cx="1757045" cy="4292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Programming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30" name="椭圆 2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127693" y="2326640"/>
            <a:ext cx="95885" cy="95885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5780000" scaled="0"/>
            </a:gradFill>
          </a:ln>
          <a:effectLst>
            <a:outerShdw blurRad="355600" algn="ctr" rotWithShape="0">
              <a:schemeClr val="accent1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1113155" y="2725420"/>
            <a:ext cx="1918335" cy="4730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PYTHON</a:t>
            </a:r>
            <a:endParaRPr lang="en-US" sz="20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8" name="圆角矩形 17"/>
          <p:cNvSpPr/>
          <p:nvPr>
            <p:custDataLst>
              <p:tags r:id="rId7"/>
            </p:custDataLst>
          </p:nvPr>
        </p:nvSpPr>
        <p:spPr>
          <a:xfrm>
            <a:off x="9322435" y="2165350"/>
            <a:ext cx="1946910" cy="438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  <a:alpha val="100000"/>
                </a:schemeClr>
              </a:gs>
              <a:gs pos="48000">
                <a:schemeClr val="accent1">
                  <a:alpha val="100000"/>
                </a:schemeClr>
              </a:gs>
            </a:gsLst>
            <a:lin ang="5400000" scaled="0"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 fontScale="80000"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rgbClr val="FFFFFF"/>
                </a:solidFill>
                <a:uFillTx/>
                <a:latin typeface="+mj-lt"/>
                <a:sym typeface="+mn-ea"/>
              </a:rPr>
              <a:t>Frontend/Dashboard</a:t>
            </a:r>
            <a:endParaRPr lang="en-US" sz="1600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19" name="椭圆 1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784908" y="2318385"/>
            <a:ext cx="95885" cy="95885"/>
          </a:xfrm>
          <a:prstGeom prst="ellipse">
            <a:avLst/>
          </a:prstGeom>
          <a:gradFill>
            <a:gsLst>
              <a:gs pos="4000">
                <a:schemeClr val="accent1">
                  <a:lumMod val="60000"/>
                  <a:lumOff val="40000"/>
                  <a:alpha val="100000"/>
                </a:schemeClr>
              </a:gs>
              <a:gs pos="54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42900" sx="106000" sy="106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9527223" y="2781300"/>
            <a:ext cx="1918335" cy="10217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Streamlit</a:t>
            </a:r>
            <a:endParaRPr lang="en-US" alt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 CSS</a:t>
            </a:r>
            <a:endParaRPr lang="en-US" alt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圆角矩形 16"/>
          <p:cNvSpPr/>
          <p:nvPr>
            <p:custDataLst>
              <p:tags r:id="rId10"/>
            </p:custDataLst>
          </p:nvPr>
        </p:nvSpPr>
        <p:spPr>
          <a:xfrm>
            <a:off x="4867910" y="3709670"/>
            <a:ext cx="2280285" cy="39751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40000"/>
                  <a:lumOff val="60000"/>
                  <a:alpha val="100000"/>
                </a:schemeClr>
              </a:gs>
              <a:gs pos="48000">
                <a:schemeClr val="accent2">
                  <a:alpha val="100000"/>
                </a:schemeClr>
              </a:gs>
            </a:gsLst>
            <a:lin ang="5400000" scaled="0"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Machine Learning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961698" y="3197860"/>
            <a:ext cx="95885" cy="95885"/>
          </a:xfrm>
          <a:prstGeom prst="ellipse">
            <a:avLst/>
          </a:prstGeom>
          <a:gradFill>
            <a:gsLst>
              <a:gs pos="400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  <a:gs pos="54000">
                <a:schemeClr val="accent2">
                  <a:alpha val="100000"/>
                </a:schemeClr>
              </a:gs>
            </a:gsLst>
            <a:lin ang="2700000" scaled="0"/>
          </a:gradFill>
          <a:ln w="19050">
            <a:gradFill>
              <a:gsLst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37000">
                  <a:srgbClr val="D7E2FF">
                    <a:lumMod val="5000"/>
                    <a:lumOff val="95000"/>
                  </a:srgbClr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200000" scaled="0"/>
            </a:gradFill>
          </a:ln>
          <a:effectLst>
            <a:outerShdw blurRad="355600" algn="ctr" rotWithShape="0">
              <a:schemeClr val="accent2">
                <a:alpha val="4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5050790" y="4250055"/>
            <a:ext cx="1918335" cy="14662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Scikit-learn</a:t>
            </a:r>
            <a:endParaRPr lang="en-US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TF-IDF</a:t>
            </a:r>
            <a:endParaRPr lang="en-US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Logistic Regression</a:t>
            </a:r>
            <a:endParaRPr lang="en-US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Joblib</a:t>
            </a:r>
            <a:endParaRPr lang="en-US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椭圆 4"/>
          <p:cNvSpPr/>
          <p:nvPr>
            <p:custDataLst>
              <p:tags r:id="rId13"/>
            </p:custDataLst>
          </p:nvPr>
        </p:nvSpPr>
        <p:spPr>
          <a:xfrm rot="1140000">
            <a:off x="4541838" y="1242695"/>
            <a:ext cx="2931160" cy="690880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sym typeface="+mn-lt"/>
            </a:endParaRPr>
          </a:p>
        </p:txBody>
      </p:sp>
      <p:sp>
        <p:nvSpPr>
          <p:cNvPr id="6" name="椭圆 5"/>
          <p:cNvSpPr/>
          <p:nvPr>
            <p:custDataLst>
              <p:tags r:id="rId14"/>
            </p:custDataLst>
          </p:nvPr>
        </p:nvSpPr>
        <p:spPr>
          <a:xfrm rot="20460000">
            <a:off x="4541838" y="1272540"/>
            <a:ext cx="2931160" cy="690880"/>
          </a:xfrm>
          <a:prstGeom prst="ellipse">
            <a:avLst/>
          </a:prstGeom>
          <a:noFill/>
          <a:ln>
            <a:gradFill>
              <a:gsLst>
                <a:gs pos="40000">
                  <a:schemeClr val="accent1">
                    <a:alpha val="35000"/>
                  </a:schemeClr>
                </a:gs>
                <a:gs pos="88000">
                  <a:schemeClr val="accent1">
                    <a:lumMod val="40000"/>
                    <a:lumOff val="60000"/>
                    <a:alpha val="100000"/>
                  </a:schemeClr>
                </a:gs>
                <a:gs pos="100000">
                  <a:schemeClr val="accent1">
                    <a:alpha val="35000"/>
                  </a:schemeClr>
                </a:gs>
                <a:gs pos="7000">
                  <a:schemeClr val="accent1">
                    <a:alpha val="0"/>
                  </a:schemeClr>
                </a:gs>
              </a:gsLst>
              <a:lin ang="52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椭圆 6"/>
          <p:cNvSpPr/>
          <p:nvPr>
            <p:custDataLst>
              <p:tags r:id="rId15"/>
            </p:custDataLst>
          </p:nvPr>
        </p:nvSpPr>
        <p:spPr>
          <a:xfrm>
            <a:off x="5238433" y="714375"/>
            <a:ext cx="1537970" cy="1537970"/>
          </a:xfrm>
          <a:prstGeom prst="ellipse">
            <a:avLst/>
          </a:prstGeom>
          <a:gradFill>
            <a:gsLst>
              <a:gs pos="100000">
                <a:schemeClr val="accent1">
                  <a:lumMod val="20000"/>
                  <a:lumOff val="80000"/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  <a:gs pos="34000">
                <a:schemeClr val="accent1">
                  <a:alpha val="100000"/>
                </a:schemeClr>
              </a:gs>
              <a:gs pos="62000">
                <a:schemeClr val="accent1">
                  <a:alpha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gradFill>
              <a:gsLst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37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</a:gsLst>
              <a:lin ang="1614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>
                <a:solidFill>
                  <a:srgbClr val="FFFFFF"/>
                </a:solidFill>
                <a:uFillTx/>
                <a:latin typeface="+mj-lt"/>
                <a:sym typeface="+mn-ea"/>
              </a:rPr>
              <a:t>Tools &amp;</a:t>
            </a:r>
            <a:endParaRPr lang="en-US" b="1">
              <a:solidFill>
                <a:srgbClr val="FFFFFF"/>
              </a:solidFill>
              <a:uFillTx/>
              <a:latin typeface="+mj-lt"/>
              <a:sym typeface="+mn-ea"/>
            </a:endParaRPr>
          </a:p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>
                <a:solidFill>
                  <a:srgbClr val="FFFFFF"/>
                </a:solidFill>
                <a:uFillTx/>
                <a:latin typeface="+mj-lt"/>
                <a:sym typeface="+mn-ea"/>
              </a:rPr>
              <a:t>Libraries</a:t>
            </a:r>
            <a:endParaRPr lang="en-US" b="1">
              <a:solidFill>
                <a:srgbClr val="FFFFFF"/>
              </a:solidFill>
              <a:uFillTx/>
              <a:latin typeface="+mj-lt"/>
              <a:sym typeface="+mn-ea"/>
            </a:endParaRPr>
          </a:p>
        </p:txBody>
      </p:sp>
      <p:sp>
        <p:nvSpPr>
          <p:cNvPr id="2" name="圆角矩形 27"/>
          <p:cNvSpPr/>
          <p:nvPr>
            <p:custDataLst>
              <p:tags r:id="rId16"/>
            </p:custDataLst>
          </p:nvPr>
        </p:nvSpPr>
        <p:spPr>
          <a:xfrm>
            <a:off x="2205355" y="3319780"/>
            <a:ext cx="2011045" cy="40195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Data Processing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9" name="圆角矩形 16"/>
          <p:cNvSpPr/>
          <p:nvPr>
            <p:custDataLst>
              <p:tags r:id="rId17"/>
            </p:custDataLst>
          </p:nvPr>
        </p:nvSpPr>
        <p:spPr>
          <a:xfrm>
            <a:off x="7948295" y="3319780"/>
            <a:ext cx="1667510" cy="42926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600" b="1">
                <a:solidFill>
                  <a:schemeClr val="lt1"/>
                </a:solidFill>
                <a:uFillTx/>
                <a:latin typeface="+mj-lt"/>
                <a:sym typeface="+mn-ea"/>
              </a:rPr>
              <a:t>Visualization</a:t>
            </a:r>
            <a:endParaRPr lang="en-US" sz="1600" b="1">
              <a:solidFill>
                <a:schemeClr val="lt1"/>
              </a:solidFill>
              <a:uFillTx/>
              <a:latin typeface="+mj-lt"/>
              <a:sym typeface="+mn-ea"/>
            </a:endParaRPr>
          </a:p>
        </p:txBody>
      </p:sp>
      <p:sp>
        <p:nvSpPr>
          <p:cNvPr id="10" name="矩形 2"/>
          <p:cNvSpPr/>
          <p:nvPr>
            <p:custDataLst>
              <p:tags r:id="rId18"/>
            </p:custDataLst>
          </p:nvPr>
        </p:nvSpPr>
        <p:spPr>
          <a:xfrm>
            <a:off x="2298065" y="3843020"/>
            <a:ext cx="1918335" cy="17424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Pandas</a:t>
            </a:r>
            <a:endParaRPr lang="en-US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Regular Expressions</a:t>
            </a:r>
            <a:endParaRPr lang="en-US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AST Parsing</a:t>
            </a:r>
            <a:endParaRPr lang="en-US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矩形 7"/>
          <p:cNvSpPr/>
          <p:nvPr>
            <p:custDataLst>
              <p:tags r:id="rId19"/>
            </p:custDataLst>
          </p:nvPr>
        </p:nvSpPr>
        <p:spPr>
          <a:xfrm>
            <a:off x="7857490" y="3980815"/>
            <a:ext cx="1918335" cy="146621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Plotly</a:t>
            </a:r>
            <a:endParaRPr lang="en-US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custDataLst>
              <p:tags r:id="rId1"/>
            </p:custDataLst>
          </p:nvPr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/>
                <a:ea typeface="+mj-ea"/>
                <a:cs typeface="Cambria" panose="02040503050406030204" pitchFamily="34" charset="-120"/>
              </a:rPr>
              <a:t>How It Works</a:t>
            </a:r>
            <a:endParaRPr lang="en-US" sz="3200" b="1" dirty="0">
              <a:solidFill>
                <a:schemeClr val="accent1"/>
              </a:solidFill>
              <a:latin typeface="+mj-lt"/>
              <a:ea typeface="+mj-ea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/>
          <p:nvPr>
            <p:custDataLst>
              <p:tags r:id="rId2"/>
            </p:custDataLst>
          </p:nvPr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>
                    <a:lumMod val="50000"/>
                  </a:schemeClr>
                </a:solidFill>
                <a:cs typeface="Calibri" panose="020F0502020204030204" pitchFamily="34" charset="-120"/>
              </a:rPr>
              <a:t>From raw postings to actionable insight, in four stages</a:t>
            </a:r>
            <a:endParaRPr lang="en-US" sz="1300" i="1" dirty="0">
              <a:solidFill>
                <a:schemeClr val="accent1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822960" y="1481328"/>
            <a:ext cx="10543032" cy="822960"/>
          </a:xfrm>
          <a:prstGeom prst="roundRect">
            <a:avLst>
              <a:gd name="adj" fmla="val 11111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>
            <p:custDataLst>
              <p:tags r:id="rId4"/>
            </p:custDataLst>
          </p:nvPr>
        </p:nvSpPr>
        <p:spPr>
          <a:xfrm>
            <a:off x="960120" y="1609344"/>
            <a:ext cx="10268712" cy="384048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cs typeface="Calibri" panose="020F0502020204030204" pitchFamily="34" charset="-120"/>
              </a:rPr>
              <a:t>Pakistan Job Dataset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5"/>
            </p:custDataLst>
          </p:nvPr>
        </p:nvSpPr>
        <p:spPr>
          <a:xfrm>
            <a:off x="960120" y="1938528"/>
            <a:ext cx="10268712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cs typeface="Calibri" panose="020F0502020204030204" pitchFamily="34" charset="-120"/>
              </a:rPr>
              <a:t>6,680 raw postings  •  9 columns</a:t>
            </a:r>
            <a:endParaRPr lang="en-US" sz="105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6"/>
            </p:custDataLst>
          </p:nvPr>
        </p:nvSpPr>
        <p:spPr>
          <a:xfrm>
            <a:off x="6012180" y="2359152"/>
            <a:ext cx="164592" cy="274320"/>
          </a:xfrm>
          <a:prstGeom prst="downArrow">
            <a:avLst/>
          </a:prstGeom>
          <a:solidFill>
            <a:schemeClr val="accent1"/>
          </a:solidFill>
        </p:spPr>
      </p:sp>
      <p:sp>
        <p:nvSpPr>
          <p:cNvPr id="8" name="Shape 6"/>
          <p:cNvSpPr/>
          <p:nvPr>
            <p:custDataLst>
              <p:tags r:id="rId7"/>
            </p:custDataLst>
          </p:nvPr>
        </p:nvSpPr>
        <p:spPr>
          <a:xfrm>
            <a:off x="822960" y="2688336"/>
            <a:ext cx="10543032" cy="822960"/>
          </a:xfrm>
          <a:prstGeom prst="roundRect">
            <a:avLst>
              <a:gd name="adj" fmla="val 11111"/>
            </a:avLst>
          </a:prstGeom>
          <a:solidFill>
            <a:schemeClr val="accent3">
              <a:lumMod val="40000"/>
              <a:lumOff val="60000"/>
            </a:schemeClr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8"/>
            </p:custDataLst>
          </p:nvPr>
        </p:nvSpPr>
        <p:spPr>
          <a:xfrm>
            <a:off x="960120" y="2816352"/>
            <a:ext cx="10268712" cy="384048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>
                    <a:lumMod val="50000"/>
                    <a:hueOff val="10800000"/>
                  </a:schemeClr>
                </a:solidFill>
                <a:cs typeface="Calibri" panose="020F0502020204030204" pitchFamily="34" charset="-120"/>
              </a:rPr>
              <a:t>Cleaning &amp; Feature Engineering</a:t>
            </a:r>
            <a:endParaRPr lang="en-US" sz="1400" b="1" dirty="0">
              <a:solidFill>
                <a:schemeClr val="accent3">
                  <a:lumMod val="50000"/>
                  <a:hueOff val="10800000"/>
                </a:schemeClr>
              </a:solidFill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9"/>
            </p:custDataLst>
          </p:nvPr>
        </p:nvSpPr>
        <p:spPr>
          <a:xfrm>
            <a:off x="960120" y="3145536"/>
            <a:ext cx="10268712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cs typeface="Calibri" panose="020F0502020204030204" pitchFamily="34" charset="-120"/>
              </a:rPr>
              <a:t>Dedup  •  fill missing  •  normalize text  •  encode experience &amp; dates</a:t>
            </a:r>
            <a:endParaRPr lang="en-US" sz="105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10"/>
            </p:custDataLst>
          </p:nvPr>
        </p:nvSpPr>
        <p:spPr>
          <a:xfrm>
            <a:off x="6094476" y="3529584"/>
            <a:ext cx="0" cy="173736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11"/>
            </p:custDataLst>
          </p:nvPr>
        </p:nvSpPr>
        <p:spPr>
          <a:xfrm>
            <a:off x="3390138" y="3703320"/>
            <a:ext cx="54086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12"/>
            </p:custDataLst>
          </p:nvPr>
        </p:nvSpPr>
        <p:spPr>
          <a:xfrm>
            <a:off x="3307842" y="3703320"/>
            <a:ext cx="164592" cy="137160"/>
          </a:xfrm>
          <a:prstGeom prst="downArrow">
            <a:avLst/>
          </a:prstGeom>
          <a:solidFill>
            <a:schemeClr val="accent1"/>
          </a:solidFill>
        </p:spPr>
      </p:sp>
      <p:sp>
        <p:nvSpPr>
          <p:cNvPr id="14" name="Shape 12"/>
          <p:cNvSpPr/>
          <p:nvPr>
            <p:custDataLst>
              <p:tags r:id="rId13"/>
            </p:custDataLst>
          </p:nvPr>
        </p:nvSpPr>
        <p:spPr>
          <a:xfrm>
            <a:off x="8716518" y="3703320"/>
            <a:ext cx="164592" cy="137160"/>
          </a:xfrm>
          <a:prstGeom prst="downArrow">
            <a:avLst/>
          </a:prstGeom>
          <a:solidFill>
            <a:schemeClr val="accent1"/>
          </a:solidFill>
        </p:spPr>
      </p:sp>
      <p:sp>
        <p:nvSpPr>
          <p:cNvPr id="15" name="Shape 13"/>
          <p:cNvSpPr/>
          <p:nvPr>
            <p:custDataLst>
              <p:tags r:id="rId14"/>
            </p:custDataLst>
          </p:nvPr>
        </p:nvSpPr>
        <p:spPr>
          <a:xfrm>
            <a:off x="822960" y="3895344"/>
            <a:ext cx="5134356" cy="822960"/>
          </a:xfrm>
          <a:prstGeom prst="roundRect">
            <a:avLst>
              <a:gd name="adj" fmla="val 11111"/>
            </a:avLst>
          </a:prstGeom>
          <a:solidFill>
            <a:schemeClr val="accent2">
              <a:lumMod val="60000"/>
              <a:lumOff val="40000"/>
            </a:schemeClr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>
            <p:custDataLst>
              <p:tags r:id="rId15"/>
            </p:custDataLst>
          </p:nvPr>
        </p:nvSpPr>
        <p:spPr>
          <a:xfrm>
            <a:off x="960120" y="4023360"/>
            <a:ext cx="4860036" cy="384048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cs typeface="Calibri" panose="020F0502020204030204" pitchFamily="34" charset="-120"/>
              </a:rPr>
              <a:t>Skill Extraction</a:t>
            </a:r>
            <a:endParaRPr lang="en-US" sz="1400" b="1" dirty="0">
              <a:solidFill>
                <a:srgbClr val="7030A0"/>
              </a:solidFill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6"/>
            </p:custDataLst>
          </p:nvPr>
        </p:nvSpPr>
        <p:spPr>
          <a:xfrm>
            <a:off x="960120" y="4352544"/>
            <a:ext cx="4860036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cs typeface="Calibri" panose="020F0502020204030204" pitchFamily="34" charset="-120"/>
              </a:rPr>
              <a:t>Pattern matching on title + description</a:t>
            </a:r>
            <a:endParaRPr lang="en-US" sz="105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7"/>
            </p:custDataLst>
          </p:nvPr>
        </p:nvSpPr>
        <p:spPr>
          <a:xfrm>
            <a:off x="6231636" y="3895344"/>
            <a:ext cx="5134356" cy="822960"/>
          </a:xfrm>
          <a:prstGeom prst="roundRect">
            <a:avLst>
              <a:gd name="adj" fmla="val 11111"/>
            </a:avLst>
          </a:prstGeom>
          <a:solidFill>
            <a:schemeClr val="accent5">
              <a:lumMod val="40000"/>
              <a:lumOff val="60000"/>
            </a:schemeClr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18"/>
            </p:custDataLst>
          </p:nvPr>
        </p:nvSpPr>
        <p:spPr>
          <a:xfrm>
            <a:off x="6368796" y="4023360"/>
            <a:ext cx="4860036" cy="384048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cs typeface="Calibri" panose="020F0502020204030204" pitchFamily="34" charset="-120"/>
              </a:rPr>
              <a:t>ML Classification</a:t>
            </a:r>
            <a:endParaRPr lang="en-US" sz="1400" b="1" dirty="0">
              <a:solidFill>
                <a:srgbClr val="C00000"/>
              </a:solidFill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9"/>
            </p:custDataLst>
          </p:nvPr>
        </p:nvSpPr>
        <p:spPr>
          <a:xfrm>
            <a:off x="6368796" y="4352544"/>
            <a:ext cx="4860036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cs typeface="Calibri" panose="020F0502020204030204" pitchFamily="34" charset="-120"/>
              </a:rPr>
              <a:t>TF-IDF  →  Logistic Regression</a:t>
            </a:r>
            <a:endParaRPr lang="en-US" sz="105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20"/>
            </p:custDataLst>
          </p:nvPr>
        </p:nvSpPr>
        <p:spPr>
          <a:xfrm>
            <a:off x="3307842" y="4773168"/>
            <a:ext cx="164592" cy="274320"/>
          </a:xfrm>
          <a:prstGeom prst="downArrow">
            <a:avLst/>
          </a:prstGeom>
          <a:solidFill>
            <a:schemeClr val="accent1"/>
          </a:solidFill>
        </p:spPr>
      </p:sp>
      <p:sp>
        <p:nvSpPr>
          <p:cNvPr id="22" name="Shape 20"/>
          <p:cNvSpPr/>
          <p:nvPr>
            <p:custDataLst>
              <p:tags r:id="rId21"/>
            </p:custDataLst>
          </p:nvPr>
        </p:nvSpPr>
        <p:spPr>
          <a:xfrm>
            <a:off x="8716518" y="4773168"/>
            <a:ext cx="164592" cy="274320"/>
          </a:xfrm>
          <a:prstGeom prst="downArrow">
            <a:avLst/>
          </a:prstGeom>
          <a:solidFill>
            <a:schemeClr val="accent1"/>
          </a:solidFill>
        </p:spPr>
      </p:sp>
      <p:sp>
        <p:nvSpPr>
          <p:cNvPr id="23" name="Shape 21"/>
          <p:cNvSpPr/>
          <p:nvPr>
            <p:custDataLst>
              <p:tags r:id="rId22"/>
            </p:custDataLst>
          </p:nvPr>
        </p:nvSpPr>
        <p:spPr>
          <a:xfrm>
            <a:off x="822960" y="5102352"/>
            <a:ext cx="10543032" cy="822960"/>
          </a:xfrm>
          <a:prstGeom prst="roundRect">
            <a:avLst>
              <a:gd name="adj" fmla="val 11111"/>
            </a:avLst>
          </a:prstGeom>
          <a:solidFill>
            <a:schemeClr val="accent6">
              <a:lumMod val="40000"/>
              <a:lumOff val="60000"/>
            </a:schemeClr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>
            <p:custDataLst>
              <p:tags r:id="rId23"/>
            </p:custDataLst>
          </p:nvPr>
        </p:nvSpPr>
        <p:spPr>
          <a:xfrm>
            <a:off x="960120" y="5230368"/>
            <a:ext cx="10268712" cy="384048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0000"/>
                </a:solidFill>
                <a:cs typeface="Calibri" panose="020F0502020204030204" pitchFamily="34" charset="-120"/>
              </a:rPr>
              <a:t>Streamlit Dashboard</a:t>
            </a:r>
            <a:endParaRPr lang="en-US" sz="1400" b="1" dirty="0">
              <a:solidFill>
                <a:srgbClr val="FF0000"/>
              </a:solidFill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24"/>
            </p:custDataLst>
          </p:nvPr>
        </p:nvSpPr>
        <p:spPr>
          <a:xfrm>
            <a:off x="960120" y="5559552"/>
            <a:ext cx="10268712" cy="310896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  <a:cs typeface="Calibri" panose="020F0502020204030204" pitchFamily="34" charset="-120"/>
              </a:rPr>
              <a:t>Market analytics  •  Skill gap  •  Job matching  •  Department predictor</a:t>
            </a:r>
            <a:endParaRPr lang="en-US" sz="1050" dirty="0">
              <a:solidFill>
                <a:schemeClr val="tx1"/>
              </a:solidFill>
              <a:cs typeface="Calibri" panose="020F0502020204030204" pitchFamily="34" charset="-120"/>
            </a:endParaRPr>
          </a:p>
        </p:txBody>
      </p:sp>
    </p:spTree>
    <p:custDataLst>
      <p:tags r:id="rId2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你的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2*i*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页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5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7*i*3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8*i*3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11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44"/>
</p:tagLst>
</file>

<file path=ppt/tags/tag11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14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4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3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TEMPLATE_CATEGORY" val="custom"/>
  <p:tag name="KSO_WM_TEMPLATE_INDEX" val="20233444"/>
  <p:tag name="KSO_WM_UNIT_LAYERLEVEL" val="1"/>
  <p:tag name="KSO_WM_TAG_VERSION" val="3.0"/>
  <p:tag name="KSO_WM_BEAUTIFY_FLAG" val="#wm#"/>
  <p:tag name="KSO_WM_UNIT_PRESET_TEXT" val="单击输入你的标题"/>
  <p:tag name="KSO_WM_UNIT_CONTENT_GROUP_TYPE" val="contentchip"/>
</p:tagLst>
</file>

<file path=ppt/tags/tag118.xml><?xml version="1.0" encoding="utf-8"?>
<p:tagLst xmlns:p="http://schemas.openxmlformats.org/presentationml/2006/main">
  <p:tag name="KSO_WM_SPECIAL_SOURCE" val="bdnull"/>
  <p:tag name="KSO_WM_TEMPLATE_THUMBS_INDEX" val="1、9"/>
  <p:tag name="KSO_WM_SLIDE_CONTENT_AREA" val="{&quot;left&quot;:&quot;38&quot;,&quot;top&quot;:&quot;120.7&quot;,&quot;width&quot;:&quot;552.8&quot;,&quot;height&quot;:&quot;259.25&quot;}"/>
  <p:tag name="KSO_WM_SLIDE_ID" val="custom2023344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44"/>
  <p:tag name="KSO_WM_SLIDE_LAYOUT" val="a_b_f"/>
  <p:tag name="KSO_WM_SLIDE_LAYOUT_CNT" val="1_1_1"/>
</p:tagLst>
</file>

<file path=ppt/tags/tag11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20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21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2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12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2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3*l_i*1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32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3*l_h_a*1_1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33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34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3*l_i*1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35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3*l_h_a*1_2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36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3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3*l_i*1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38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3*l_h_a*1_3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39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  <p:tag name="KSO_WM_DIAGRAM_VIRTUALLY_FRAME" val="{&quot;height&quot;:172.8,&quot;left&quot;:507.6,&quot;top&quot;:226.8,&quot;width&quot;:392.4}"/>
</p:tagLst>
</file>

<file path=ppt/tags/tag140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SLIDE_TYPE" val="text"/>
  <p:tag name="KSO_WM_BEAUTIFY_FLAG" val="#wm#"/>
</p:tagLst>
</file>

<file path=ppt/tags/tag142.xml><?xml version="1.0" encoding="utf-8"?>
<p:tagLst xmlns:p="http://schemas.openxmlformats.org/presentationml/2006/main">
  <p:tag name="KSO_WM_UNIT_INDEX" val="2"/>
  <p:tag name="KSO_WM_UNIT_TYPE" val="b"/>
  <p:tag name="KSO_WM_BEAUTIFY_FLAG" val="#wm#"/>
</p:tagLst>
</file>

<file path=ppt/tags/tag14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页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_3*a*1"/>
  <p:tag name="KSO_WM_TEMPLATE_CATEGORY" val="custom"/>
  <p:tag name="KSO_WM_TEMPLATE_INDEX" val="20233444"/>
  <p:tag name="KSO_WM_UNIT_LAYERLEVEL" val="1"/>
  <p:tag name="KSO_WM_TAG_VERSION" val="3.0"/>
  <p:tag name="KSO_WM_BEAUTIFY_FLAG" val="#wm#"/>
  <p:tag name="KSO_WM_UNIT_TEXT_FILL_FORE_SCHEMECOLOR_INDEX" val="5"/>
  <p:tag name="KSO_WM_UNIT_TEXT_FILL_TYPE" val="1"/>
  <p:tag name="KSO_WM_UNIT_USESOURCEFORMAT_APPLY" val="1"/>
</p:tagLst>
</file>

<file path=ppt/tags/tag14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32.874996948242185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0894_4*l_h_i*1_1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32.874996948242185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0894_4*l_h_f*1_1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32.874996948242185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0894_4*l_h_i*1_2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32.874996948242185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0894_4*l_h_f*1_2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32.874996948242185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0894_4*l_h_i*1_3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32.874996948242185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0894_4*l_h_f*1_3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32.874996948242185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0894_4*l_h_i*1_4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32.874996948242185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0894_4*l_h_f*1_4_1"/>
  <p:tag name="KSO_WM_TEMPLATE_CATEGORY" val="custom"/>
  <p:tag name="KSO_WM_TEMPLATE_INDEX" val="20230894"/>
  <p:tag name="KSO_WM_UNIT_LAYERLEVEL" val="1_1_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5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56.874996948242185,&quot;width&quot;:419.20001220703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0894_4*l_h_i*1_4_1"/>
  <p:tag name="KSO_WM_TEMPLATE_CATEGORY" val="custom"/>
  <p:tag name="KSO_WM_TEMPLATE_INDEX" val="20230894"/>
  <p:tag name="KSO_WM_UNIT_LAYERLEVEL" val="1_1_1"/>
  <p:tag name="KSO_WM_TAG_VERSION" val="3.0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426.3500061035156,&quot;left&quot;:519.8999938964844,&quot;top&quot;:56.874996948242185,&quot;width&quot;:419.2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DIAGRAM_VERSION" val="3"/>
  <p:tag name="KSO_WM_DIAGRAM_COLOR_TRICK" val="1"/>
  <p:tag name="KSO_WM_DIAGRAM_COLOR_TEXT_CAN_REMOVE" val="n"/>
  <p:tag name="KSO_WM_UNIT_SUBTYPE" val="a"/>
  <p:tag name="KSO_WM_UNIT_PRESET_TEXT" val="Your title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0894_4*l_h_f*1_4_1"/>
  <p:tag name="KSO_WM_TEMPLATE_CATEGORY" val="custom"/>
  <p:tag name="KSO_WM_TEMPLATE_INDEX" val="20230894"/>
  <p:tag name="KSO_WM_UNIT_LAYERLEVEL" val="1_1_1"/>
  <p:tag name="KSO_WM_TAG_VERSION" val="3.0"/>
  <p:tag name="KSO_WM_UNIT_TEXT_FILL_FORE_SCHEMECOLOR_INDEX" val="13"/>
  <p:tag name="KSO_WM_UNIT_TEXT_FILL_TYPE" val="1"/>
  <p:tag name="KSO_WM_UNIT_USESOURCEFORMAT_APPLY" val="1"/>
</p:tagLst>
</file>

<file path=ppt/tags/tag154.xml><?xml version="1.0" encoding="utf-8"?>
<p:tagLst xmlns:p="http://schemas.openxmlformats.org/presentationml/2006/main">
  <p:tag name="KSO_WM_SPECIAL_SOURCE" val="bdnull"/>
  <p:tag name="KSO_WM_SLIDE_ID" val="custom20233444_4"/>
  <p:tag name="KSO_WM_TEMPLATE_SUBCATEGORY" val="29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44"/>
  <p:tag name="KSO_WM_SLIDE_LAYOUT" val="a_l"/>
  <p:tag name="KSO_WM_SLIDE_LAYOUT_CNT" val="1_1"/>
</p:tagLst>
</file>

<file path=ppt/tags/tag1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i*1_1_1"/>
  <p:tag name="KSO_WM_TEMPLATE_CATEGORY" val="diagram"/>
  <p:tag name="KSO_WM_TEMPLATE_INDEX" val="202381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800000011920929,&quot;colorType&quot;:1,&quot;foreColorIndex&quot;:5,&quot;pos&quot;:1,&quot;transparency&quot;:0.49000000953674316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i*1_1_2"/>
  <p:tag name="KSO_WM_TEMPLATE_CATEGORY" val="diagram"/>
  <p:tag name="KSO_WM_TEMPLATE_INDEX" val="202381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solid&quot;:{&quot;brightness&quot;:0.800000011920929,&quot;colorType&quot;:1,&quot;foreColorIndex&quot;:5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DIAGRAM_USE_COLOR_VALUE" val="{&quot;color_scheme&quot;:1,&quot;color_type&quot;:1,&quot;theme_color_indexes&quot;:[5,6,5,6,5,6]}"/>
</p:tagLst>
</file>

<file path=ppt/tags/tag157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4"/>
  <p:tag name="KSO_WM_UNIT_ID" val="diagram20238176_2*n_h_i*1_1_4"/>
  <p:tag name="KSO_WM_TEMPLATE_CATEGORY" val="diagram"/>
  <p:tag name="KSO_WM_TEMPLATE_INDEX" val="2023817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.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i*1_1_3"/>
  <p:tag name="KSO_WM_TEMPLATE_CATEGORY" val="diagram"/>
  <p:tag name="KSO_WM_TEMPLATE_INDEX" val="20238176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5,6,5,6,5,6]}"/>
</p:tagLst>
</file>

<file path=ppt/tags/tag1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h_i*1_2_3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h_i*1_2_1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6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h_i*1_2_2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6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8176_2*n_h_h_f*1_2_1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8176_2*n_h_h_a*1_2_1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8176_2*n_h_h_f*1_2_3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8176_2*n_h_h_a*1_2_3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8176_2*n_h_h_f*1_2_2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8176_2*n_h_h_a*1_2_2_1"/>
  <p:tag name="KSO_WM_TEMPLATE_CATEGORY" val="diagram"/>
  <p:tag name="KSO_WM_TEMPLATE_INDEX" val="2023817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h_i*1_2_2_2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2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h_i*1_2_1_2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2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76_2*n_h_h_i*1_2_3_2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2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8176_2*n_h_a*1_1_1"/>
  <p:tag name="KSO_WM_TEMPLATE_CATEGORY" val="diagram"/>
  <p:tag name="KSO_WM_TEMPLATE_INDEX" val="2023817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8.7499969482422,&quot;left&quot;:6.1,&quot;top&quot;:79.20000305175782,&quot;width&quot;:945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76_2*n_h_h_i*1_2_1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372.92503631832096,&quot;left&quot;:51.54998779296875,&quot;top&quot;:79.20000305175782,&quot;width&quot;:852.9000244140625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176_2*n_h_h_i*1_2_1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372.92503631832096,&quot;left&quot;:51.54998779296875,&quot;top&quot;:79.20000305175782,&quot;width&quot;:852.9000244140625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7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8176_2*n_h_h_f*1_2_3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1.975036318321,&quot;left&quot;:51.54998779296875,&quot;top&quot;:79.20000305175782,&quot;width&quot;:852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8176_2*n_h_h_a*1_2_3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1.975036318321,&quot;left&quot;:51.54998779296875,&quot;top&quot;:79.20000305175782,&quot;width&quot;:852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8176_2*n_h_h_f*1_2_3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1.975036318321,&quot;left&quot;:51.54998779296875,&quot;top&quot;:79.20000305175782,&quot;width&quot;:852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8176_2*n_h_h_a*1_2_3_1"/>
  <p:tag name="KSO_WM_TEMPLATE_CATEGORY" val="diagram"/>
  <p:tag name="KSO_WM_TEMPLATE_INDEX" val="20238176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51.975036318321,&quot;left&quot;:51.54998779296875,&quot;top&quot;:79.20000305175782,&quot;width&quot;:852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44"/>
  <p:tag name="resource_record_key" val="{&quot;65&quot;:[20233444],&quot;70&quot;:[3312481]}"/>
</p:tagLst>
</file>

<file path=ppt/tags/tag179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52"/>
  <p:tag name="KSO_WM_UNIT_FILL_FORE_SCHEMECOLOR_INDEX_2_TRANS" val="0.8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2*n_h_i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5199999809265137,&quot;transparency&quot;:0.8500000238418579}],&quot;type&quot;:3},&quot;glow&quot;:{&quot;colorType&quot;:0},&quot;line&quot;:{&quot;solidLine&quot;:{&quot;brightness&quot;:0,&quot;colorType&quot;:1,&quot;foreColorIndex&quot;:5,&quot;transparency&quot;:0.89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80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81"/>
  <p:tag name="KSO_WM_UNIT_FILL_FORE_SCHEMECOLOR_INDEX_2_TRANS" val="0.7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2*n_h_i*1_1_2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8100000023841858,&quot;transparency&quot;:0.75}],&quot;type&quot;:3},&quot;glow&quot;:{&quot;colorType&quot;:0},&quot;line&quot;:{&quot;solidLine&quot;:{&quot;brightness&quot;:0,&quot;colorType&quot;:1,&quot;foreColorIndex&quot;:5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81.xml><?xml version="1.0" encoding="utf-8"?>
<p:tagLst xmlns:p="http://schemas.openxmlformats.org/presentationml/2006/main">
  <p:tag name="KSO_WM_BEAUTIFY_FLAG" val="#wm#"/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FILL_FORE_SCHEMECOLOR_INDEX_2_BRIGHTNESS" val="0.8"/>
  <p:tag name="KSO_WM_UNIT_FILL_FORE_SCHEMECOLOR_INDEX_2" val="5"/>
  <p:tag name="KSO_WM_UNIT_FILL_FORE_SCHEMECOLOR_INDEX_2_POS" val="0.77"/>
  <p:tag name="KSO_WM_UNIT_FILL_FORE_SCHEMECOLOR_INDEX_2_TRANS" val="0.5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2*n_h_i*1_1_3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,&quot;colorType&quot;:2,&quot;pos&quot;:0,&quot;rgb&quot;:&quot;#ffffff&quot;,&quot;transparency&quot;:1},{&quot;brightness&quot;:0.800000011920929,&quot;colorType&quot;:1,&quot;foreColorIndex&quot;:5,&quot;pos&quot;:0.7699999809265137,&quot;transparency&quot;:0.6000000238418579}],&quot;type&quot;:3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DIAGRAM_USE_COLOR_VALUE" val="{&quot;color_scheme&quot;:1,&quot;color_type&quot;:1,&quot;theme_color_indexes&quot;:[5,6,5,6,5,6]}"/>
</p:tagLst>
</file>

<file path=ppt/tags/tag182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2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7"/>
  <p:tag name="KSO_WM_DIAGRAM_GROUP_CODE" val="n1-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3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8"/>
  <p:tag name="KSO_WM_UNIT_LINE_FORE_SCHEMECOLOR_INDEX_1" val="8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8"/>
  <p:tag name="KSO_WM_UNIT_LINE_FORE_SCHEMECOLOR_INDEX_3" val="8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8"/>
  <p:tag name="KSO_WM_UNIT_HIGHLIGHT" val="0"/>
  <p:tag name="KSO_WM_UNIT_COMPATIBLE" val="0"/>
  <p:tag name="KSO_WM_UNIT_DIAGRAM_ISNUMVISUAL" val="0"/>
  <p:tag name="KSO_WM_UNIT_DIAGRAM_ISREFERUNIT" val="0"/>
  <p:tag name="KSO_WM_UNIT_ID" val="diagram20238184_2*n_h_h_i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.4000000059604645,&quot;colorType&quot;:1,&quot;foreColorIndex&quot;:5,&quot;pos&quot;:0.03999999910593033,&quot;transparency&quot;:0},{&quot;brightness&quot;:0,&quot;colorType&quot;:1,&quot;foreColorIndex&quot;:5,&quot;pos&quot;:0.5400000214576721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8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8184_2*n_h_h_f*1_2_1_1"/>
  <p:tag name="KSO_WM_TEMPLATE_CATEGORY" val="diagram"/>
  <p:tag name="KSO_WM_TEMPLATE_INDEX" val="20238184"/>
  <p:tag name="KSO_WM_UNIT_LAYERLEVEL" val="1_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UNIT_VALUE" val="48"/>
  <p:tag name="KSO_WM_DIAGRAM_GROUP_CODE" val="n1-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5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2*n_h_h_a*1_2_3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3_1"/>
  <p:tag name="KSO_WM_DIAGRAM_VERSION" val="3"/>
  <p:tag name="KSO_WM_DIAGRAM_COLOR_TRICK" val="3"/>
  <p:tag name="KSO_WM_DIAGRAM_COLOR_TEXT_CAN_REMOVE" val="n"/>
  <p:tag name="KSO_WM_UNIT_VALUE" val="7"/>
  <p:tag name="KSO_WM_DIAGRAM_GROUP_CODE" val="n1-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.800000011920929,&quot;colorType&quot;:1,&quot;foreColorIndex&quot;:10,&quot;pos&quot;:0,&quot;transparency&quot;:0},{&quot;brightness&quot;:0,&quot;colorType&quot;:1,&quot;foreColorIndex&quot;:10,&quot;pos&quot;:0.47999998927116394,&quot;transparency&quot;:0}],&quot;type&quot;:3},&quot;glow&quot;:{&quot;colorType&quot;:0},&quot;line&quot;:{&quot;solidLine&quot;:{&quot;brightness&quot;:0,&quot;colorType&quot;:1,&quot;foreColorIndex&quot;:10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10"/>
  <p:tag name="KSO_WM_DIAGRAM_USE_COLOR_VALUE" val="{&quot;color_scheme&quot;:1,&quot;color_type&quot;:1,&quot;theme_color_indexes&quot;:[5,6,5,6,5,6]}"/>
</p:tagLst>
</file>

<file path=ppt/tags/tag186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2*n_h_h_i*1_2_3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.4000000059604645,&quot;colorType&quot;:1,&quot;foreColorIndex&quot;:10,&quot;pos&quot;:0.03999999910593033,&quot;transparency&quot;:0},{&quot;brightness&quot;:0,&quot;colorType&quot;:1,&quot;foreColorIndex&quot;:10,&quot;pos&quot;:0.5400000214576721,&quot;transparency&quot;:0},{&quot;brightness&quot;:0,&quot;colorType&quot;:1,&quot;foreColorIndex&quot;:10,&quot;pos&quot;:1,&quot;transparency&quot;:0}],&quot;type&quot;:3},&quot;glow&quot;:{&quot;colorType&quot;:0},&quot;line&quot;:{&quot;gradient&quot;:[{&quot;brightness&quot;:0.800000011920929,&quot;colorType&quot;:1,&quot;foreColorIndex&quot;:10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10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10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8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8184_2*n_h_h_f*1_2_3_1"/>
  <p:tag name="KSO_WM_TEMPLATE_CATEGORY" val="diagram"/>
  <p:tag name="KSO_WM_TEMPLATE_INDEX" val="20238184"/>
  <p:tag name="KSO_WM_UNIT_LAYERLEVEL" val="1_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8.xml><?xml version="1.0" encoding="utf-8"?>
<p:tagLst xmlns:p="http://schemas.openxmlformats.org/presentationml/2006/main">
  <p:tag name="KSO_WM_BEAUTIFY_FLAG" val="#wm#"/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2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8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BEAUTIFY_FLAG" val="#wm#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HIGHLIGHT" val="0"/>
  <p:tag name="KSO_WM_UNIT_COMPATIBLE" val="0"/>
  <p:tag name="KSO_WM_UNIT_DIAGRAM_ISNUMVISUAL" val="0"/>
  <p:tag name="KSO_WM_UNIT_DIAGRAM_ISREFERUNIT" val="0"/>
  <p:tag name="KSO_WM_UNIT_ID" val="diagram20238184_2*n_h_h_i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.4000000059604645,&quot;colorType&quot;:1,&quot;foreColorIndex&quot;:8,&quot;pos&quot;:0.03999999910593033,&quot;transparency&quot;:0},{&quot;brightness&quot;:0,&quot;colorType&quot;:1,&quot;foreColorIndex&quot;:8,&quot;pos&quot;:1,&quot;transparency&quot;:0},{&quot;brightness&quot;:0,&quot;colorType&quot;:1,&quot;foreColorIndex&quot;:8,&quot;pos&quot;:0.5400000214576721,&quot;transparency&quot;:0}],&quot;type&quot;:3},&quot;glow&quot;:{&quot;colorType&quot;:0},&quot;line&quot;:{&quot;gradient&quot;:[{&quot;brightness&quot;:0.800000011920929,&quot;colorType&quot;:1,&quot;foreColorIndex&quot;:8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8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8,&quot;transparency&quot;:0.54000002145767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5,6,5,6,5,6]}"/>
</p:tagLst>
</file>

<file path=ppt/tags/tag19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8184_2*n_h_h_f*1_2_2_1"/>
  <p:tag name="KSO_WM_TEMPLATE_CATEGORY" val="diagram"/>
  <p:tag name="KSO_WM_TEMPLATE_INDEX" val="20238184"/>
  <p:tag name="KSO_WM_UNIT_LAYERLEVEL" val="1_1_1_1"/>
  <p:tag name="KSO_WM_TAG_VERSION" val="3.0"/>
  <p:tag name="KSO_WM_BEAUTIFY_FLAG" val="#wm#"/>
  <p:tag name="KSO_WM_DIAGRAM_VERSION" val="3"/>
  <p:tag name="KSO_WM_DIAGRAM_COLOR_TRICK" val="3"/>
  <p:tag name="KSO_WM_DIAGRAM_COLOR_TEXT_CAN_REMOVE" val="n"/>
  <p:tag name="KSO_WM_UNIT_VALUE" val="48"/>
  <p:tag name="KSO_WM_DIAGRAM_GROUP_CODE" val="n1-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2*n_h_i*1_1_4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184_2*n_h_i*1_1_5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1_5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000000059604645,&quot;transparency&quot;:0.6499999761581421},{&quot;brightness&quot;:0.6000000238418579,&quot;colorType&quot;:1,&quot;foreColorIndex&quot;:5,&quot;pos&quot;:0.8799999952316284,&quot;transparency&quot;:0},{&quot;brightness&quot;:0,&quot;colorType&quot;:1,&quot;foreColorIndex&quot;:5,&quot;pos&quot;:1,&quot;transparency&quot;:0.6499999761581421},{&quot;brightness&quot;:0,&quot;colorType&quot;:1,&quot;foreColorIndex&quot;:5,&quot;pos&quot;:0.07000000029802322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3.xml><?xml version="1.0" encoding="utf-8"?>
<p:tagLst xmlns:p="http://schemas.openxmlformats.org/presentationml/2006/main">
  <p:tag name="KSO_WM_BEAUTIFY_FLAG" val="#wm#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4"/>
  <p:tag name="KSO_WM_UNIT_FILL_FORE_SCHEMECOLOR_INDEX_2_TRANS" val="0"/>
  <p:tag name="KSO_WM_UNIT_FILL_GRADIENT_TYPE" val="2"/>
  <p:tag name="KSO_WM_UNIT_FILL_GRADIENT_ANGLE" val="0"/>
  <p:tag name="KSO_WM_UNIT_FILL_GRADIENT_DIRECTION" val="12"/>
  <p:tag name="KSO_WM_UNIT_LINE_FORE_SCHEMECOLOR_INDEX_1_BRIGHTNESS" val="0.55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.95"/>
  <p:tag name="KSO_WM_UNIT_LINE_FORE_SCHEMECOLOR_INDEX_2" val="5"/>
  <p:tag name="KSO_WM_UNIT_LINE_FORE_SCHEMECOLOR_INDEX_2_POS" val="0.37"/>
  <p:tag name="KSO_WM_UNIT_LINE_FORE_SCHEMECOLOR_INDEX_2_TRANS" val="0"/>
  <p:tag name="KSO_WM_UNIT_LINE_FORE_SCHEMECOLOR_INDEX_3_BRIGHTNESS" val="0.7"/>
  <p:tag name="KSO_WM_UNIT_LINE_FORE_SCHEMECOLOR_INDEX_3" val="5"/>
  <p:tag name="KSO_WM_UNIT_LINE_FORE_SCHEMECOLOR_INDEX_3_POS" val="0.71"/>
  <p:tag name="KSO_WM_UNIT_LINE_FORE_SCHEMECOLOR_INDEX_3_TRANS" val="0"/>
  <p:tag name="KSO_WM_UNIT_LINE_FORE_SCHEMECOLOR_INDEX_4_BRIGHTNESS" val="0"/>
  <p:tag name="KSO_WM_UNIT_LINE_FORE_SCHEMECOLOR_INDEX_4" val="14"/>
  <p:tag name="KSO_WM_UNIT_LINE_FORE_SCHEMECOLOR_INDEX_4_POS" val="1"/>
  <p:tag name="KSO_WM_UNIT_LINE_FORE_SCHEMECOLOR_INDEX_4_TRANS" val="0"/>
  <p:tag name="KSO_WM_UNIT_LINE_GRADIENT_TYPE" val="0"/>
  <p:tag name="KSO_WM_UNIT_LINE_GRADIENT_ANGLE" val="270"/>
  <p:tag name="KSO_WM_UNIT_LINE_GRADIENT_DIRECTION" val="6"/>
  <p:tag name="KSO_WM_UNIT_LINE_FILL_TYPE" val="5"/>
  <p:tag name="KSO_WM_UNIT_SHADOW_SCHEMECOLOR_INDEX_BRIGHTNESS" val="0"/>
  <p:tag name="KSO_WM_UNIT_SHADOW_SCHEMECOLOR_INDEX" val="5"/>
  <p:tag name="KSO_WM_UNIT_TEXT_FILL_FORE_SCHEMECOLOR_INDEX_BRIGHTNESS" val="0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diagram20238184_2*n_h_a*1_1_1"/>
  <p:tag name="KSO_WM_TEMPLATE_CATEGORY" val="diagram"/>
  <p:tag name="KSO_WM_TEMPLATE_INDEX" val="20238184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6"/>
  <p:tag name="KSO_WM_DIAGRAM_MIN_ITEMCNT" val="2"/>
  <p:tag name="KSO_WM_DIAGRAM_VIRTUALLY_FRAME" val="{&quot;height&quot;:397.8999969482422,&quot;left&quot;:22.6,&quot;top&quot;:52.20000305175781,&quot;width&quot;:878.6250393700786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,&quot;colorType&quot;:2,&quot;pos&quot;:0.3700000047683716,&quot;rgb&quot;:&quot;#ffff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3"/>
  <p:tag name="KSO_WM_DIAGRAM_USE_COLOR_VALUE" val="{&quot;color_scheme&quot;:1,&quot;color_type&quot;:1,&quot;theme_color_indexes&quot;:[5,6,5,6,5,6]}"/>
</p:tagLst>
</file>

<file path=ppt/tags/tag194.xml><?xml version="1.0" encoding="utf-8"?>
<p:tagLst xmlns:p="http://schemas.openxmlformats.org/presentationml/2006/main">
  <p:tag name="KSO_WM_UNIT_FILL_FORE_SCHEMECOLOR_INDEX_1_BRIGHTNESS" val="0.4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8"/>
  <p:tag name="KSO_WM_UNIT_FILL_FORE_SCHEMECOLOR_INDEX_2_POS" val="0.48"/>
  <p:tag name="KSO_WM_UNIT_FILL_FORE_SCHEMECOLOR_INDEX_2_TRANS" val="0"/>
  <p:tag name="KSO_WM_UNIT_FILL_FORE_SCHEMECOLOR_INDEX_3_BRIGHTNESS" val="0.4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2*n_h_h_a*1_2_1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1_1"/>
  <p:tag name="KSO_WM_DIAGRAM_VERSION" val="3"/>
  <p:tag name="KSO_WM_DIAGRAM_COLOR_TRICK" val="3"/>
  <p:tag name="KSO_WM_DIAGRAM_COLOR_TEXT_CAN_REMOVE" val="n"/>
  <p:tag name="KSO_WM_UNIT_VALUE" val="7"/>
  <p:tag name="KSO_WM_DIAGRAM_GROUP_CODE" val="n1-1"/>
  <p:tag name="KSO_WM_DIAGRAM_MAX_ITEMCNT" val="6"/>
  <p:tag name="KSO_WM_DIAGRAM_MIN_ITEMCNT" val="2"/>
  <p:tag name="KSO_WM_DIAGRAM_VIRTUALLY_FRAME" val="{&quot;height&quot;:366.8999938964844,&quot;left&quot;:90.77499389648438,&quot;top&quot;:52.20000305175781,&quot;width&quot;:764.4500454735944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47999998927116394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5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5.xml><?xml version="1.0" encoding="utf-8"?>
<p:tagLst xmlns:p="http://schemas.openxmlformats.org/presentationml/2006/main">
  <p:tag name="KSO_WM_UNIT_FILL_FORE_SCHEMECOLOR_INDEX_1_BRIGHTNESS" val="0.4"/>
  <p:tag name="KSO_WM_UNIT_FILL_FORE_SCHEMECOLOR_INDEX_1" val="10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0"/>
  <p:tag name="KSO_WM_UNIT_FILL_FORE_SCHEMECOLOR_INDEX_2_POS" val="0.48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LINE_FORE_SCHEMECOLOR_INDEX_BRIGHTNESS" val="0"/>
  <p:tag name="KSO_WM_UNIT_LINE_FILL_TYPE" val="2"/>
  <p:tag name="KSO_WM_UNIT_TEXT_FILL_FORE_SCHEMECOLOR_INDEX_BRIGHTNESS" val="0"/>
  <p:tag name="KSO_WM_UNIT_HIGHLIGHT" val="0"/>
  <p:tag name="KSO_WM_UNIT_COMPATIBLE" val="0"/>
  <p:tag name="KSO_WM_UNIT_DIAGRAM_ISNUMVISUAL" val="0"/>
  <p:tag name="KSO_WM_UNIT_DIAGRAM_ISREFERUNIT" val="0"/>
  <p:tag name="KSO_WM_UNIT_ID" val="diagram20238184_2*n_h_h_a*1_2_2_1"/>
  <p:tag name="KSO_WM_TEMPLATE_CATEGORY" val="diagram"/>
  <p:tag name="KSO_WM_TEMPLATE_INDEX" val="2023818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TYPE" val="n_h_h_a"/>
  <p:tag name="KSO_WM_UNIT_INDEX" val="1_2_2_1"/>
  <p:tag name="KSO_WM_DIAGRAM_VERSION" val="3"/>
  <p:tag name="KSO_WM_DIAGRAM_COLOR_TRICK" val="3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6.8999938964844,&quot;left&quot;:90.77499389648438,&quot;top&quot;:52.20000305175781,&quot;width&quot;:764.4500454735944}"/>
  <p:tag name="KSO_WM_DIAGRAM_COLOR_MATCH_VALUE" val="{&quot;shape&quot;:{&quot;fill&quot;:{&quot;gradient&quot;:[{&quot;brightness&quot;:0.6000000238418579,&quot;colorType&quot;:1,&quot;foreColorIndex&quot;:8,&quot;pos&quot;:0,&quot;transparency&quot;:0},{&quot;brightness&quot;:0,&quot;colorType&quot;:1,&quot;foreColorIndex&quot;:8,&quot;pos&quot;:0.47999998927116394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LINE_FORE_SCHEMECOLOR_INDEX" val="8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8184_2*n_h_h_f*1_2_1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UNIT_VALUE" val="48"/>
  <p:tag name="KSO_WM_DIAGRAM_GROUP_CODE" val="n1-1"/>
  <p:tag name="KSO_WM_DIAGRAM_MAX_ITEMCNT" val="6"/>
  <p:tag name="KSO_WM_DIAGRAM_MIN_ITEMCNT" val="2"/>
  <p:tag name="KSO_WM_DIAGRAM_VIRTUALLY_FRAME" val="{&quot;height&quot;:366.8999938964844,&quot;left&quot;:22.6,&quot;top&quot;:52.20000305175781,&quot;width&quot;:850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8184_2*n_h_h_f*1_2_2_1"/>
  <p:tag name="KSO_WM_TEMPLATE_CATEGORY" val="diagram"/>
  <p:tag name="KSO_WM_TEMPLATE_INDEX" val="20238184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UNIT_VALUE" val="48"/>
  <p:tag name="KSO_WM_DIAGRAM_GROUP_CODE" val="n1-1"/>
  <p:tag name="KSO_WM_DIAGRAM_MAX_ITEMCNT" val="6"/>
  <p:tag name="KSO_WM_DIAGRAM_MIN_ITEMCNT" val="2"/>
  <p:tag name="KSO_WM_DIAGRAM_VIRTUALLY_FRAME" val="{&quot;height&quot;:397.8999969482422,&quot;left&quot;:22.6,&quot;top&quot;:52.20000305175781,&quot;width&quot;:850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9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0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0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20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0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0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07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08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09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10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11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12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13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14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15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21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21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220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221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222.xml><?xml version="1.0" encoding="utf-8"?>
<p:tagLst xmlns:p="http://schemas.openxmlformats.org/presentationml/2006/main">
  <p:tag name="KSO_WM_SLIDE_TYPE" val="text"/>
  <p:tag name="KSO_WM_BEAUTIFY_FLAG" val="#wm#"/>
</p:tagLst>
</file>

<file path=ppt/tags/tag223.xml><?xml version="1.0" encoding="utf-8"?>
<p:tagLst xmlns:p="http://schemas.openxmlformats.org/presentationml/2006/main">
  <p:tag name="resource_record_key" val="{&quot;65&quot;:[20233444],&quot;70&quot;:[3312646,3312481]}"/>
</p:tagLst>
</file>

<file path=ppt/theme/theme1.xml><?xml version="1.0" encoding="utf-8"?>
<a:theme xmlns:a="http://schemas.openxmlformats.org/drawingml/2006/main" name="2_Office Theme">
  <a:themeElements>
    <a:clrScheme name="自定义 34">
      <a:dk1>
        <a:srgbClr val="000000"/>
      </a:dk1>
      <a:lt1>
        <a:srgbClr val="FFFFFF"/>
      </a:lt1>
      <a:dk2>
        <a:srgbClr val="581D00"/>
      </a:dk2>
      <a:lt2>
        <a:srgbClr val="FFE3D4"/>
      </a:lt2>
      <a:accent1>
        <a:srgbClr val="FF7429"/>
      </a:accent1>
      <a:accent2>
        <a:srgbClr val="F84949"/>
      </a:accent2>
      <a:accent3>
        <a:srgbClr val="FFB108"/>
      </a:accent3>
      <a:accent4>
        <a:srgbClr val="DE3500"/>
      </a:accent4>
      <a:accent5>
        <a:srgbClr val="FFCC66"/>
      </a:accent5>
      <a:accent6>
        <a:srgbClr val="92D050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1869</Words>
  <Application>WPS Presentation</Application>
  <PresentationFormat>On-screen Show (16:9)</PresentationFormat>
  <Paragraphs>152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Wingdings</vt:lpstr>
      <vt:lpstr>Lato</vt:lpstr>
      <vt:lpstr>Manrope ExtraBold</vt:lpstr>
      <vt:lpstr>Calibri Light</vt:lpstr>
      <vt:lpstr>2_Office Theme</vt:lpstr>
      <vt:lpstr>JOBLENS</vt:lpstr>
      <vt:lpstr>PowerPoint 演示文稿</vt:lpstr>
      <vt:lpstr>Core Concepts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Shehvv</cp:lastModifiedBy>
  <cp:revision>2</cp:revision>
  <dcterms:created xsi:type="dcterms:W3CDTF">2026-08-20T09:34:00Z</dcterms:created>
  <dcterms:modified xsi:type="dcterms:W3CDTF">2026-08-20T10:33:40Z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2E4418AACDD74E37A6A63A3F4A7902F8_13</vt:lpwstr>
  </property>
</Properties>
</file>